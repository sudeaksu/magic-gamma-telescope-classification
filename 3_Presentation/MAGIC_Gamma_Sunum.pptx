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drawings/drawing1.xml" ContentType="application/vnd.openxmlformats-officedocument.drawingml.chartshap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3.xml" ContentType="application/vnd.openxmlformats-officedocument.drawingml.chart+xml"/>
  <Override PartName="/ppt/drawings/drawing2.xml" ContentType="application/vnd.openxmlformats-officedocument.drawingml.chartshapes+xml"/>
  <Override PartName="/ppt/notesSlides/notesSlide20.xml" ContentType="application/vnd.openxmlformats-officedocument.presentationml.notesSlide+xml"/>
  <Override PartName="/ppt/ink/ink1.xml" ContentType="application/inkml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rts/chart4.xml" ContentType="application/vnd.openxmlformats-officedocument.drawingml.chart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rts/chart5.xml" ContentType="application/vnd.openxmlformats-officedocument.drawingml.chart+xml"/>
  <Override PartName="/ppt/drawings/drawing3.xml" ContentType="application/vnd.openxmlformats-officedocument.drawingml.chartshapes+xml"/>
  <Override PartName="/ppt/notesSlides/notesSlide28.xml" ContentType="application/vnd.openxmlformats-officedocument.presentationml.notesSlide+xml"/>
  <Override PartName="/ppt/charts/chart6.xml" ContentType="application/vnd.openxmlformats-officedocument.drawingml.chart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drawings/drawing4.xml" ContentType="application/vnd.openxmlformats-officedocument.drawingml.chartshapes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charts/chart9.xml" ContentType="application/vnd.openxmlformats-officedocument.drawingml.chart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5" r:id="rId17"/>
    <p:sldId id="276" r:id="rId18"/>
    <p:sldId id="271" r:id="rId19"/>
    <p:sldId id="272" r:id="rId20"/>
    <p:sldId id="273" r:id="rId21"/>
    <p:sldId id="274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D6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C8AC92-2ABF-4970-A046-044EB39BC7FB}" v="18" dt="2026-05-02T11:19:02.125"/>
  </p1510:revLst>
</p1510:revInfo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Orta Stil 4 - Vurgu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Orta Stil 4 - Vurgu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C7853C-536D-4A76-A0AE-DD22124D55A5}" styleName="Tema Uygulanmış Stil 1 - Vurgu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27F97BB-C833-4FB7-BDE5-3F7075034690}" styleName="Tema Uygulanmış Stil 2 - Vurgu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5758FB7-9AC5-4552-8A53-C91805E547FA}" styleName="Tema Uygulanmış Stil 1 - Vurgu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505E3EF-67EA-436B-97B2-0124C06EBD24}" styleName="Orta Stil 4 - Vurgu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03447BB-5D67-496B-8E87-E561075AD55C}" styleName="Koyu Stil 1 - Vurgu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Orta Stil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06799F8-075E-4A3A-A7F6-7FBC6576F1A4}" styleName="Tema Uygulanmış Stil 2 - Vurgu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Koyu Stil 1 - Vurgu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Koyu Stil 1 - Vurgu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A111915-BE36-4E01-A7E5-04B1672EAD32}" styleName="Açık Stil 2 - Vurgu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FD0F851-EC5A-4D38-B0AD-8093EC10F338}" styleName="Açık Stil 1 - Vurgu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Stil Yok, Tablo Kılavuz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Orta Stil 2 - Vurgu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8034E78-7F5D-4C2E-B375-FC64B27BC917}" styleName="Koyu Stil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ABFCF23-3B69-468F-B69F-88F6DE6A72F2}" styleName="Orta Stil 1 - Vurgu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31" d="100"/>
          <a:sy n="131" d="100"/>
        </p:scale>
        <p:origin x="8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if Kınalı" userId="f20087f04c155ab7" providerId="LiveId" clId="{52FCABF3-2B32-456A-87C2-2BCB0C64A7B3}"/>
    <pc:docChg chg="undo custSel modSld sldOrd">
      <pc:chgData name="Elif Kınalı" userId="f20087f04c155ab7" providerId="LiveId" clId="{52FCABF3-2B32-456A-87C2-2BCB0C64A7B3}" dt="2026-05-02T11:25:28.188" v="457" actId="14100"/>
      <pc:docMkLst>
        <pc:docMk/>
      </pc:docMkLst>
      <pc:sldChg chg="modSp">
        <pc:chgData name="Elif Kınalı" userId="f20087f04c155ab7" providerId="LiveId" clId="{52FCABF3-2B32-456A-87C2-2BCB0C64A7B3}" dt="2026-05-02T10:19:09.907" v="28"/>
        <pc:sldMkLst>
          <pc:docMk/>
          <pc:sldMk cId="0" sldId="261"/>
        </pc:sldMkLst>
        <pc:graphicFrameChg chg="mod">
          <ac:chgData name="Elif Kınalı" userId="f20087f04c155ab7" providerId="LiveId" clId="{52FCABF3-2B32-456A-87C2-2BCB0C64A7B3}" dt="2026-05-02T10:19:09.907" v="28"/>
          <ac:graphicFrameMkLst>
            <pc:docMk/>
            <pc:sldMk cId="0" sldId="261"/>
            <ac:graphicFrameMk id="31" creationId="{00000000-0000-0000-0000-000000000000}"/>
          </ac:graphicFrameMkLst>
        </pc:graphicFrameChg>
      </pc:sldChg>
      <pc:sldChg chg="modSp mod">
        <pc:chgData name="Elif Kınalı" userId="f20087f04c155ab7" providerId="LiveId" clId="{52FCABF3-2B32-456A-87C2-2BCB0C64A7B3}" dt="2026-05-02T10:38:27.217" v="150" actId="207"/>
        <pc:sldMkLst>
          <pc:docMk/>
          <pc:sldMk cId="0" sldId="262"/>
        </pc:sldMkLst>
        <pc:graphicFrameChg chg="mod modGraphic">
          <ac:chgData name="Elif Kınalı" userId="f20087f04c155ab7" providerId="LiveId" clId="{52FCABF3-2B32-456A-87C2-2BCB0C64A7B3}" dt="2026-05-02T10:38:27.217" v="150" actId="207"/>
          <ac:graphicFrameMkLst>
            <pc:docMk/>
            <pc:sldMk cId="0" sldId="262"/>
            <ac:graphicFrameMk id="8" creationId="{00000000-0000-0000-0000-000000000000}"/>
          </ac:graphicFrameMkLst>
        </pc:graphicFrameChg>
      </pc:sldChg>
      <pc:sldChg chg="delSp modSp mod">
        <pc:chgData name="Elif Kınalı" userId="f20087f04c155ab7" providerId="LiveId" clId="{52FCABF3-2B32-456A-87C2-2BCB0C64A7B3}" dt="2026-05-02T11:03:59.047" v="218" actId="1076"/>
        <pc:sldMkLst>
          <pc:docMk/>
          <pc:sldMk cId="0" sldId="265"/>
        </pc:sldMkLst>
        <pc:spChg chg="del">
          <ac:chgData name="Elif Kınalı" userId="f20087f04c155ab7" providerId="LiveId" clId="{52FCABF3-2B32-456A-87C2-2BCB0C64A7B3}" dt="2026-05-02T11:03:38.510" v="214" actId="478"/>
          <ac:spMkLst>
            <pc:docMk/>
            <pc:sldMk cId="0" sldId="265"/>
            <ac:spMk id="6" creationId="{00000000-0000-0000-0000-000000000000}"/>
          </ac:spMkLst>
        </pc:spChg>
        <pc:spChg chg="del mod">
          <ac:chgData name="Elif Kınalı" userId="f20087f04c155ab7" providerId="LiveId" clId="{52FCABF3-2B32-456A-87C2-2BCB0C64A7B3}" dt="2026-05-02T11:03:46.135" v="217" actId="478"/>
          <ac:spMkLst>
            <pc:docMk/>
            <pc:sldMk cId="0" sldId="265"/>
            <ac:spMk id="7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03:59.047" v="218" actId="1076"/>
          <ac:spMkLst>
            <pc:docMk/>
            <pc:sldMk cId="0" sldId="265"/>
            <ac:spMk id="8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03:59.047" v="218" actId="1076"/>
          <ac:spMkLst>
            <pc:docMk/>
            <pc:sldMk cId="0" sldId="265"/>
            <ac:spMk id="10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03:59.047" v="218" actId="1076"/>
          <ac:spMkLst>
            <pc:docMk/>
            <pc:sldMk cId="0" sldId="265"/>
            <ac:spMk id="21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03:59.047" v="218" actId="1076"/>
          <ac:spMkLst>
            <pc:docMk/>
            <pc:sldMk cId="0" sldId="265"/>
            <ac:spMk id="25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03:59.047" v="218" actId="1076"/>
          <ac:spMkLst>
            <pc:docMk/>
            <pc:sldMk cId="0" sldId="265"/>
            <ac:spMk id="31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03:59.047" v="218" actId="1076"/>
          <ac:spMkLst>
            <pc:docMk/>
            <pc:sldMk cId="0" sldId="265"/>
            <ac:spMk id="34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03:59.047" v="218" actId="1076"/>
          <ac:spMkLst>
            <pc:docMk/>
            <pc:sldMk cId="0" sldId="265"/>
            <ac:spMk id="46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03:59.047" v="218" actId="1076"/>
          <ac:spMkLst>
            <pc:docMk/>
            <pc:sldMk cId="0" sldId="265"/>
            <ac:spMk id="47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03:59.047" v="218" actId="1076"/>
          <ac:spMkLst>
            <pc:docMk/>
            <pc:sldMk cId="0" sldId="265"/>
            <ac:spMk id="56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03:59.047" v="218" actId="1076"/>
          <ac:spMkLst>
            <pc:docMk/>
            <pc:sldMk cId="0" sldId="265"/>
            <ac:spMk id="58" creationId="{00000000-0000-0000-0000-000000000000}"/>
          </ac:spMkLst>
        </pc:spChg>
      </pc:sldChg>
      <pc:sldChg chg="modSp mod">
        <pc:chgData name="Elif Kınalı" userId="f20087f04c155ab7" providerId="LiveId" clId="{52FCABF3-2B32-456A-87C2-2BCB0C64A7B3}" dt="2026-05-02T10:55:28.756" v="198" actId="1036"/>
        <pc:sldMkLst>
          <pc:docMk/>
          <pc:sldMk cId="0" sldId="268"/>
        </pc:sldMkLst>
        <pc:spChg chg="mod">
          <ac:chgData name="Elif Kınalı" userId="f20087f04c155ab7" providerId="LiveId" clId="{52FCABF3-2B32-456A-87C2-2BCB0C64A7B3}" dt="2026-05-02T10:55:28.756" v="198" actId="1036"/>
          <ac:spMkLst>
            <pc:docMk/>
            <pc:sldMk cId="0" sldId="268"/>
            <ac:spMk id="6" creationId="{00000000-0000-0000-0000-000000000000}"/>
          </ac:spMkLst>
        </pc:spChg>
        <pc:graphicFrameChg chg="mod modGraphic">
          <ac:chgData name="Elif Kınalı" userId="f20087f04c155ab7" providerId="LiveId" clId="{52FCABF3-2B32-456A-87C2-2BCB0C64A7B3}" dt="2026-05-02T10:55:25.605" v="197" actId="20577"/>
          <ac:graphicFrameMkLst>
            <pc:docMk/>
            <pc:sldMk cId="0" sldId="268"/>
            <ac:graphicFrameMk id="14" creationId="{00000000-0000-0000-0000-000000000000}"/>
          </ac:graphicFrameMkLst>
        </pc:graphicFrameChg>
      </pc:sldChg>
      <pc:sldChg chg="modSp mod">
        <pc:chgData name="Elif Kınalı" userId="f20087f04c155ab7" providerId="LiveId" clId="{52FCABF3-2B32-456A-87C2-2BCB0C64A7B3}" dt="2026-05-02T10:56:29.544" v="202" actId="1036"/>
        <pc:sldMkLst>
          <pc:docMk/>
          <pc:sldMk cId="0" sldId="269"/>
        </pc:sldMkLst>
        <pc:spChg chg="mod">
          <ac:chgData name="Elif Kınalı" userId="f20087f04c155ab7" providerId="LiveId" clId="{52FCABF3-2B32-456A-87C2-2BCB0C64A7B3}" dt="2026-05-02T10:56:29.544" v="202" actId="1036"/>
          <ac:spMkLst>
            <pc:docMk/>
            <pc:sldMk cId="0" sldId="269"/>
            <ac:spMk id="6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0:56:02.510" v="199" actId="14100"/>
          <ac:spMkLst>
            <pc:docMk/>
            <pc:sldMk cId="0" sldId="269"/>
            <ac:spMk id="19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0:56:13.096" v="201" actId="14100"/>
          <ac:spMkLst>
            <pc:docMk/>
            <pc:sldMk cId="0" sldId="269"/>
            <ac:spMk id="20" creationId="{00000000-0000-0000-0000-000000000000}"/>
          </ac:spMkLst>
        </pc:spChg>
      </pc:sldChg>
      <pc:sldChg chg="modSp mod">
        <pc:chgData name="Elif Kınalı" userId="f20087f04c155ab7" providerId="LiveId" clId="{52FCABF3-2B32-456A-87C2-2BCB0C64A7B3}" dt="2026-05-02T11:02:03.749" v="212" actId="14100"/>
        <pc:sldMkLst>
          <pc:docMk/>
          <pc:sldMk cId="0" sldId="271"/>
        </pc:sldMkLst>
        <pc:spChg chg="mod">
          <ac:chgData name="Elif Kınalı" userId="f20087f04c155ab7" providerId="LiveId" clId="{52FCABF3-2B32-456A-87C2-2BCB0C64A7B3}" dt="2026-05-02T11:02:03.749" v="212" actId="14100"/>
          <ac:spMkLst>
            <pc:docMk/>
            <pc:sldMk cId="0" sldId="271"/>
            <ac:spMk id="6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0:12:32.726" v="25" actId="20577"/>
          <ac:spMkLst>
            <pc:docMk/>
            <pc:sldMk cId="0" sldId="271"/>
            <ac:spMk id="7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01:52.775" v="210" actId="14100"/>
          <ac:spMkLst>
            <pc:docMk/>
            <pc:sldMk cId="0" sldId="271"/>
            <ac:spMk id="9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01:26.888" v="205" actId="1076"/>
          <ac:spMkLst>
            <pc:docMk/>
            <pc:sldMk cId="0" sldId="271"/>
            <ac:spMk id="13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01:16.230" v="204" actId="1076"/>
          <ac:spMkLst>
            <pc:docMk/>
            <pc:sldMk cId="0" sldId="271"/>
            <ac:spMk id="16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01:16.230" v="204" actId="1076"/>
          <ac:spMkLst>
            <pc:docMk/>
            <pc:sldMk cId="0" sldId="271"/>
            <ac:spMk id="18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01:16.230" v="204" actId="1076"/>
          <ac:spMkLst>
            <pc:docMk/>
            <pc:sldMk cId="0" sldId="271"/>
            <ac:spMk id="19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01:16.230" v="204" actId="1076"/>
          <ac:spMkLst>
            <pc:docMk/>
            <pc:sldMk cId="0" sldId="271"/>
            <ac:spMk id="21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0:11:00.504" v="5" actId="14100"/>
          <ac:spMkLst>
            <pc:docMk/>
            <pc:sldMk cId="0" sldId="271"/>
            <ac:spMk id="22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0:11:03.053" v="6" actId="14100"/>
          <ac:spMkLst>
            <pc:docMk/>
            <pc:sldMk cId="0" sldId="271"/>
            <ac:spMk id="25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01:16.230" v="204" actId="1076"/>
          <ac:spMkLst>
            <pc:docMk/>
            <pc:sldMk cId="0" sldId="271"/>
            <ac:spMk id="27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01:16.230" v="204" actId="1076"/>
          <ac:spMkLst>
            <pc:docMk/>
            <pc:sldMk cId="0" sldId="271"/>
            <ac:spMk id="28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01:16.230" v="204" actId="1076"/>
          <ac:spMkLst>
            <pc:docMk/>
            <pc:sldMk cId="0" sldId="271"/>
            <ac:spMk id="30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01:16.230" v="204" actId="1076"/>
          <ac:spMkLst>
            <pc:docMk/>
            <pc:sldMk cId="0" sldId="271"/>
            <ac:spMk id="31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01:16.230" v="204" actId="1076"/>
          <ac:spMkLst>
            <pc:docMk/>
            <pc:sldMk cId="0" sldId="271"/>
            <ac:spMk id="33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0:12:38.428" v="27" actId="14100"/>
          <ac:spMkLst>
            <pc:docMk/>
            <pc:sldMk cId="0" sldId="271"/>
            <ac:spMk id="34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01:16.230" v="204" actId="1076"/>
          <ac:spMkLst>
            <pc:docMk/>
            <pc:sldMk cId="0" sldId="271"/>
            <ac:spMk id="35" creationId="{00000000-0000-0000-0000-000000000000}"/>
          </ac:spMkLst>
        </pc:spChg>
      </pc:sldChg>
      <pc:sldChg chg="modSp mod">
        <pc:chgData name="Elif Kınalı" userId="f20087f04c155ab7" providerId="LiveId" clId="{52FCABF3-2B32-456A-87C2-2BCB0C64A7B3}" dt="2026-05-02T11:04:38.046" v="235" actId="20577"/>
        <pc:sldMkLst>
          <pc:docMk/>
          <pc:sldMk cId="0" sldId="272"/>
        </pc:sldMkLst>
        <pc:spChg chg="mod">
          <ac:chgData name="Elif Kınalı" userId="f20087f04c155ab7" providerId="LiveId" clId="{52FCABF3-2B32-456A-87C2-2BCB0C64A7B3}" dt="2026-05-02T11:04:38.046" v="235" actId="20577"/>
          <ac:spMkLst>
            <pc:docMk/>
            <pc:sldMk cId="0" sldId="272"/>
            <ac:spMk id="8" creationId="{00000000-0000-0000-0000-000000000000}"/>
          </ac:spMkLst>
        </pc:spChg>
        <pc:graphicFrameChg chg="mod">
          <ac:chgData name="Elif Kınalı" userId="f20087f04c155ab7" providerId="LiveId" clId="{52FCABF3-2B32-456A-87C2-2BCB0C64A7B3}" dt="2026-05-02T11:02:34.044" v="213"/>
          <ac:graphicFrameMkLst>
            <pc:docMk/>
            <pc:sldMk cId="0" sldId="272"/>
            <ac:graphicFrameMk id="11" creationId="{00000000-0000-0000-0000-000000000000}"/>
          </ac:graphicFrameMkLst>
        </pc:graphicFrameChg>
      </pc:sldChg>
      <pc:sldChg chg="modSp mod">
        <pc:chgData name="Elif Kınalı" userId="f20087f04c155ab7" providerId="LiveId" clId="{52FCABF3-2B32-456A-87C2-2BCB0C64A7B3}" dt="2026-05-02T11:06:50.820" v="248" actId="14100"/>
        <pc:sldMkLst>
          <pc:docMk/>
          <pc:sldMk cId="0" sldId="274"/>
        </pc:sldMkLst>
        <pc:spChg chg="mod">
          <ac:chgData name="Elif Kınalı" userId="f20087f04c155ab7" providerId="LiveId" clId="{52FCABF3-2B32-456A-87C2-2BCB0C64A7B3}" dt="2026-05-02T11:06:15.850" v="238" actId="1076"/>
          <ac:spMkLst>
            <pc:docMk/>
            <pc:sldMk cId="0" sldId="274"/>
            <ac:spMk id="9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06:26.164" v="239" actId="14100"/>
          <ac:spMkLst>
            <pc:docMk/>
            <pc:sldMk cId="0" sldId="274"/>
            <ac:spMk id="13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06:30.142" v="240" actId="14100"/>
          <ac:spMkLst>
            <pc:docMk/>
            <pc:sldMk cId="0" sldId="274"/>
            <ac:spMk id="16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06:32.758" v="241" actId="14100"/>
          <ac:spMkLst>
            <pc:docMk/>
            <pc:sldMk cId="0" sldId="274"/>
            <ac:spMk id="19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06:34.997" v="242" actId="14100"/>
          <ac:spMkLst>
            <pc:docMk/>
            <pc:sldMk cId="0" sldId="274"/>
            <ac:spMk id="22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06:37.676" v="243" actId="14100"/>
          <ac:spMkLst>
            <pc:docMk/>
            <pc:sldMk cId="0" sldId="274"/>
            <ac:spMk id="25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06:40.163" v="244" actId="14100"/>
          <ac:spMkLst>
            <pc:docMk/>
            <pc:sldMk cId="0" sldId="274"/>
            <ac:spMk id="28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06:42.682" v="245" actId="14100"/>
          <ac:spMkLst>
            <pc:docMk/>
            <pc:sldMk cId="0" sldId="274"/>
            <ac:spMk id="31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06:45.104" v="246" actId="14100"/>
          <ac:spMkLst>
            <pc:docMk/>
            <pc:sldMk cId="0" sldId="274"/>
            <ac:spMk id="34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06:47.901" v="247" actId="14100"/>
          <ac:spMkLst>
            <pc:docMk/>
            <pc:sldMk cId="0" sldId="274"/>
            <ac:spMk id="37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06:50.820" v="248" actId="14100"/>
          <ac:spMkLst>
            <pc:docMk/>
            <pc:sldMk cId="0" sldId="274"/>
            <ac:spMk id="40" creationId="{00000000-0000-0000-0000-000000000000}"/>
          </ac:spMkLst>
        </pc:spChg>
      </pc:sldChg>
      <pc:sldChg chg="modSp ord">
        <pc:chgData name="Elif Kınalı" userId="f20087f04c155ab7" providerId="LiveId" clId="{52FCABF3-2B32-456A-87C2-2BCB0C64A7B3}" dt="2026-05-02T11:09:20.826" v="252"/>
        <pc:sldMkLst>
          <pc:docMk/>
          <pc:sldMk cId="0" sldId="275"/>
        </pc:sldMkLst>
        <pc:graphicFrameChg chg="mod">
          <ac:chgData name="Elif Kınalı" userId="f20087f04c155ab7" providerId="LiveId" clId="{52FCABF3-2B32-456A-87C2-2BCB0C64A7B3}" dt="2026-05-02T11:07:23.474" v="250"/>
          <ac:graphicFrameMkLst>
            <pc:docMk/>
            <pc:sldMk cId="0" sldId="275"/>
            <ac:graphicFrameMk id="30" creationId="{00000000-0000-0000-0000-000000000000}"/>
          </ac:graphicFrameMkLst>
        </pc:graphicFrameChg>
      </pc:sldChg>
      <pc:sldChg chg="addSp delSp mod ord">
        <pc:chgData name="Elif Kınalı" userId="f20087f04c155ab7" providerId="LiveId" clId="{52FCABF3-2B32-456A-87C2-2BCB0C64A7B3}" dt="2026-05-02T11:10:02.310" v="258" actId="478"/>
        <pc:sldMkLst>
          <pc:docMk/>
          <pc:sldMk cId="0" sldId="276"/>
        </pc:sldMkLst>
        <pc:spChg chg="add del">
          <ac:chgData name="Elif Kınalı" userId="f20087f04c155ab7" providerId="LiveId" clId="{52FCABF3-2B32-456A-87C2-2BCB0C64A7B3}" dt="2026-05-02T11:09:58.291" v="256" actId="478"/>
          <ac:spMkLst>
            <pc:docMk/>
            <pc:sldMk cId="0" sldId="276"/>
            <ac:spMk id="9" creationId="{00000000-0000-0000-0000-000000000000}"/>
          </ac:spMkLst>
        </pc:spChg>
        <pc:spChg chg="add del">
          <ac:chgData name="Elif Kınalı" userId="f20087f04c155ab7" providerId="LiveId" clId="{52FCABF3-2B32-456A-87C2-2BCB0C64A7B3}" dt="2026-05-02T11:10:02.310" v="258" actId="478"/>
          <ac:spMkLst>
            <pc:docMk/>
            <pc:sldMk cId="0" sldId="276"/>
            <ac:spMk id="11" creationId="{00000000-0000-0000-0000-000000000000}"/>
          </ac:spMkLst>
        </pc:spChg>
      </pc:sldChg>
      <pc:sldChg chg="modSp">
        <pc:chgData name="Elif Kınalı" userId="f20087f04c155ab7" providerId="LiveId" clId="{52FCABF3-2B32-456A-87C2-2BCB0C64A7B3}" dt="2026-05-02T11:12:36.718" v="260"/>
        <pc:sldMkLst>
          <pc:docMk/>
          <pc:sldMk cId="0" sldId="280"/>
        </pc:sldMkLst>
        <pc:graphicFrameChg chg="mod">
          <ac:chgData name="Elif Kınalı" userId="f20087f04c155ab7" providerId="LiveId" clId="{52FCABF3-2B32-456A-87C2-2BCB0C64A7B3}" dt="2026-05-02T11:12:36.718" v="260"/>
          <ac:graphicFrameMkLst>
            <pc:docMk/>
            <pc:sldMk cId="0" sldId="280"/>
            <ac:graphicFrameMk id="11" creationId="{00000000-0000-0000-0000-000000000000}"/>
          </ac:graphicFrameMkLst>
        </pc:graphicFrameChg>
      </pc:sldChg>
      <pc:sldChg chg="addSp delSp modSp mod">
        <pc:chgData name="Elif Kınalı" userId="f20087f04c155ab7" providerId="LiveId" clId="{52FCABF3-2B32-456A-87C2-2BCB0C64A7B3}" dt="2026-05-02T11:17:40.728" v="357" actId="1036"/>
        <pc:sldMkLst>
          <pc:docMk/>
          <pc:sldMk cId="0" sldId="281"/>
        </pc:sldMkLst>
        <pc:spChg chg="mod">
          <ac:chgData name="Elif Kınalı" userId="f20087f04c155ab7" providerId="LiveId" clId="{52FCABF3-2B32-456A-87C2-2BCB0C64A7B3}" dt="2026-05-02T11:16:17.876" v="332" actId="1076"/>
          <ac:spMkLst>
            <pc:docMk/>
            <pc:sldMk cId="0" sldId="281"/>
            <ac:spMk id="7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17:40.728" v="357" actId="1036"/>
          <ac:spMkLst>
            <pc:docMk/>
            <pc:sldMk cId="0" sldId="281"/>
            <ac:spMk id="12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14:35.777" v="274" actId="1076"/>
          <ac:spMkLst>
            <pc:docMk/>
            <pc:sldMk cId="0" sldId="281"/>
            <ac:spMk id="14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14:35.777" v="274" actId="1076"/>
          <ac:spMkLst>
            <pc:docMk/>
            <pc:sldMk cId="0" sldId="281"/>
            <ac:spMk id="15" creationId="{00000000-0000-0000-0000-000000000000}"/>
          </ac:spMkLst>
        </pc:spChg>
        <pc:spChg chg="del mod">
          <ac:chgData name="Elif Kınalı" userId="f20087f04c155ab7" providerId="LiveId" clId="{52FCABF3-2B32-456A-87C2-2BCB0C64A7B3}" dt="2026-05-02T11:15:58.454" v="328" actId="478"/>
          <ac:spMkLst>
            <pc:docMk/>
            <pc:sldMk cId="0" sldId="281"/>
            <ac:spMk id="16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17:16.829" v="356" actId="20577"/>
          <ac:spMkLst>
            <pc:docMk/>
            <pc:sldMk cId="0" sldId="281"/>
            <ac:spMk id="17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14:35.777" v="274" actId="1076"/>
          <ac:spMkLst>
            <pc:docMk/>
            <pc:sldMk cId="0" sldId="281"/>
            <ac:spMk id="18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14:35.777" v="274" actId="1076"/>
          <ac:spMkLst>
            <pc:docMk/>
            <pc:sldMk cId="0" sldId="281"/>
            <ac:spMk id="19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14:35.777" v="274" actId="1076"/>
          <ac:spMkLst>
            <pc:docMk/>
            <pc:sldMk cId="0" sldId="281"/>
            <ac:spMk id="20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14:35.777" v="274" actId="1076"/>
          <ac:spMkLst>
            <pc:docMk/>
            <pc:sldMk cId="0" sldId="281"/>
            <ac:spMk id="21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16:58.731" v="340" actId="1076"/>
          <ac:spMkLst>
            <pc:docMk/>
            <pc:sldMk cId="0" sldId="281"/>
            <ac:spMk id="22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14:35.777" v="274" actId="1076"/>
          <ac:spMkLst>
            <pc:docMk/>
            <pc:sldMk cId="0" sldId="281"/>
            <ac:spMk id="23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14:35.777" v="274" actId="1076"/>
          <ac:spMkLst>
            <pc:docMk/>
            <pc:sldMk cId="0" sldId="281"/>
            <ac:spMk id="24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14:35.777" v="274" actId="1076"/>
          <ac:spMkLst>
            <pc:docMk/>
            <pc:sldMk cId="0" sldId="281"/>
            <ac:spMk id="25" creationId="{00000000-0000-0000-0000-000000000000}"/>
          </ac:spMkLst>
        </pc:spChg>
        <pc:spChg chg="add mod">
          <ac:chgData name="Elif Kınalı" userId="f20087f04c155ab7" providerId="LiveId" clId="{52FCABF3-2B32-456A-87C2-2BCB0C64A7B3}" dt="2026-05-02T11:17:13.288" v="355" actId="20577"/>
          <ac:spMkLst>
            <pc:docMk/>
            <pc:sldMk cId="0" sldId="281"/>
            <ac:spMk id="32" creationId="{157770C6-85DC-1F26-0745-850643BBA3F7}"/>
          </ac:spMkLst>
        </pc:spChg>
        <pc:graphicFrameChg chg="mod">
          <ac:chgData name="Elif Kınalı" userId="f20087f04c155ab7" providerId="LiveId" clId="{52FCABF3-2B32-456A-87C2-2BCB0C64A7B3}" dt="2026-05-02T11:14:04.493" v="270"/>
          <ac:graphicFrameMkLst>
            <pc:docMk/>
            <pc:sldMk cId="0" sldId="281"/>
            <ac:graphicFrameMk id="6" creationId="{00000000-0000-0000-0000-000000000000}"/>
          </ac:graphicFrameMkLst>
        </pc:graphicFrameChg>
      </pc:sldChg>
      <pc:sldChg chg="modSp mod">
        <pc:chgData name="Elif Kınalı" userId="f20087f04c155ab7" providerId="LiveId" clId="{52FCABF3-2B32-456A-87C2-2BCB0C64A7B3}" dt="2026-05-02T11:19:22.387" v="362" actId="1036"/>
        <pc:sldMkLst>
          <pc:docMk/>
          <pc:sldMk cId="0" sldId="284"/>
        </pc:sldMkLst>
        <pc:graphicFrameChg chg="mod">
          <ac:chgData name="Elif Kınalı" userId="f20087f04c155ab7" providerId="LiveId" clId="{52FCABF3-2B32-456A-87C2-2BCB0C64A7B3}" dt="2026-05-02T11:19:22.387" v="362" actId="1036"/>
          <ac:graphicFrameMkLst>
            <pc:docMk/>
            <pc:sldMk cId="0" sldId="284"/>
            <ac:graphicFrameMk id="26" creationId="{00000000-0000-0000-0000-000000000000}"/>
          </ac:graphicFrameMkLst>
        </pc:graphicFrameChg>
      </pc:sldChg>
      <pc:sldChg chg="addSp delSp modSp mod">
        <pc:chgData name="Elif Kınalı" userId="f20087f04c155ab7" providerId="LiveId" clId="{52FCABF3-2B32-456A-87C2-2BCB0C64A7B3}" dt="2026-05-02T11:24:02.271" v="443" actId="20577"/>
        <pc:sldMkLst>
          <pc:docMk/>
          <pc:sldMk cId="0" sldId="285"/>
        </pc:sldMkLst>
        <pc:spChg chg="add del mod">
          <ac:chgData name="Elif Kınalı" userId="f20087f04c155ab7" providerId="LiveId" clId="{52FCABF3-2B32-456A-87C2-2BCB0C64A7B3}" dt="2026-05-02T11:22:21.517" v="404" actId="14100"/>
          <ac:spMkLst>
            <pc:docMk/>
            <pc:sldMk cId="0" sldId="285"/>
            <ac:spMk id="6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21:47.789" v="398" actId="20577"/>
          <ac:spMkLst>
            <pc:docMk/>
            <pc:sldMk cId="0" sldId="285"/>
            <ac:spMk id="7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22:06.804" v="402" actId="1076"/>
          <ac:spMkLst>
            <pc:docMk/>
            <pc:sldMk cId="0" sldId="285"/>
            <ac:spMk id="8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22:18.008" v="403" actId="1076"/>
          <ac:spMkLst>
            <pc:docMk/>
            <pc:sldMk cId="0" sldId="285"/>
            <ac:spMk id="10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22:18.008" v="403" actId="1076"/>
          <ac:spMkLst>
            <pc:docMk/>
            <pc:sldMk cId="0" sldId="285"/>
            <ac:spMk id="11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22:18.008" v="403" actId="1076"/>
          <ac:spMkLst>
            <pc:docMk/>
            <pc:sldMk cId="0" sldId="285"/>
            <ac:spMk id="13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22:18.008" v="403" actId="1076"/>
          <ac:spMkLst>
            <pc:docMk/>
            <pc:sldMk cId="0" sldId="285"/>
            <ac:spMk id="14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22:18.008" v="403" actId="1076"/>
          <ac:spMkLst>
            <pc:docMk/>
            <pc:sldMk cId="0" sldId="285"/>
            <ac:spMk id="17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22:18.008" v="403" actId="1076"/>
          <ac:spMkLst>
            <pc:docMk/>
            <pc:sldMk cId="0" sldId="285"/>
            <ac:spMk id="19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22:18.008" v="403" actId="1076"/>
          <ac:spMkLst>
            <pc:docMk/>
            <pc:sldMk cId="0" sldId="285"/>
            <ac:spMk id="21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22:18.008" v="403" actId="1076"/>
          <ac:spMkLst>
            <pc:docMk/>
            <pc:sldMk cId="0" sldId="285"/>
            <ac:spMk id="23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22:18.008" v="403" actId="1076"/>
          <ac:spMkLst>
            <pc:docMk/>
            <pc:sldMk cId="0" sldId="285"/>
            <ac:spMk id="24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22:18.008" v="403" actId="1076"/>
          <ac:spMkLst>
            <pc:docMk/>
            <pc:sldMk cId="0" sldId="285"/>
            <ac:spMk id="25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22:49.113" v="408" actId="14100"/>
          <ac:spMkLst>
            <pc:docMk/>
            <pc:sldMk cId="0" sldId="285"/>
            <ac:spMk id="29" creationId="{00000000-0000-0000-0000-000000000000}"/>
          </ac:spMkLst>
        </pc:spChg>
        <pc:spChg chg="del">
          <ac:chgData name="Elif Kınalı" userId="f20087f04c155ab7" providerId="LiveId" clId="{52FCABF3-2B32-456A-87C2-2BCB0C64A7B3}" dt="2026-05-02T11:22:33.085" v="405" actId="478"/>
          <ac:spMkLst>
            <pc:docMk/>
            <pc:sldMk cId="0" sldId="285"/>
            <ac:spMk id="30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24:02.271" v="443" actId="20577"/>
          <ac:spMkLst>
            <pc:docMk/>
            <pc:sldMk cId="0" sldId="285"/>
            <ac:spMk id="32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22:45.776" v="407" actId="1076"/>
          <ac:spMkLst>
            <pc:docMk/>
            <pc:sldMk cId="0" sldId="285"/>
            <ac:spMk id="34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22:45.776" v="407" actId="1076"/>
          <ac:spMkLst>
            <pc:docMk/>
            <pc:sldMk cId="0" sldId="285"/>
            <ac:spMk id="35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22:45.776" v="407" actId="1076"/>
          <ac:spMkLst>
            <pc:docMk/>
            <pc:sldMk cId="0" sldId="285"/>
            <ac:spMk id="36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23:39.497" v="428" actId="20577"/>
          <ac:spMkLst>
            <pc:docMk/>
            <pc:sldMk cId="0" sldId="285"/>
            <ac:spMk id="38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22:45.776" v="407" actId="1076"/>
          <ac:spMkLst>
            <pc:docMk/>
            <pc:sldMk cId="0" sldId="285"/>
            <ac:spMk id="40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22:45.776" v="407" actId="1076"/>
          <ac:spMkLst>
            <pc:docMk/>
            <pc:sldMk cId="0" sldId="285"/>
            <ac:spMk id="42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22:45.776" v="407" actId="1076"/>
          <ac:spMkLst>
            <pc:docMk/>
            <pc:sldMk cId="0" sldId="285"/>
            <ac:spMk id="43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23:44.914" v="439" actId="20577"/>
          <ac:spMkLst>
            <pc:docMk/>
            <pc:sldMk cId="0" sldId="285"/>
            <ac:spMk id="44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22:45.776" v="407" actId="1076"/>
          <ac:spMkLst>
            <pc:docMk/>
            <pc:sldMk cId="0" sldId="285"/>
            <ac:spMk id="45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22:45.776" v="407" actId="1076"/>
          <ac:spMkLst>
            <pc:docMk/>
            <pc:sldMk cId="0" sldId="285"/>
            <ac:spMk id="46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22:45.776" v="407" actId="1076"/>
          <ac:spMkLst>
            <pc:docMk/>
            <pc:sldMk cId="0" sldId="285"/>
            <ac:spMk id="47" creationId="{00000000-0000-0000-0000-000000000000}"/>
          </ac:spMkLst>
        </pc:spChg>
      </pc:sldChg>
      <pc:sldChg chg="modSp mod">
        <pc:chgData name="Elif Kınalı" userId="f20087f04c155ab7" providerId="LiveId" clId="{52FCABF3-2B32-456A-87C2-2BCB0C64A7B3}" dt="2026-05-02T11:25:28.188" v="457" actId="14100"/>
        <pc:sldMkLst>
          <pc:docMk/>
          <pc:sldMk cId="0" sldId="286"/>
        </pc:sldMkLst>
        <pc:spChg chg="mod">
          <ac:chgData name="Elif Kınalı" userId="f20087f04c155ab7" providerId="LiveId" clId="{52FCABF3-2B32-456A-87C2-2BCB0C64A7B3}" dt="2026-05-02T11:25:19.758" v="454" actId="14100"/>
          <ac:spMkLst>
            <pc:docMk/>
            <pc:sldMk cId="0" sldId="286"/>
            <ac:spMk id="8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25:15.421" v="452" actId="1076"/>
          <ac:spMkLst>
            <pc:docMk/>
            <pc:sldMk cId="0" sldId="286"/>
            <ac:spMk id="10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25:28.188" v="457" actId="14100"/>
          <ac:spMkLst>
            <pc:docMk/>
            <pc:sldMk cId="0" sldId="286"/>
            <ac:spMk id="12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25:14.747" v="451" actId="1076"/>
          <ac:spMkLst>
            <pc:docMk/>
            <pc:sldMk cId="0" sldId="286"/>
            <ac:spMk id="14" creationId="{00000000-0000-0000-0000-000000000000}"/>
          </ac:spMkLst>
        </pc:spChg>
        <pc:spChg chg="mod">
          <ac:chgData name="Elif Kınalı" userId="f20087f04c155ab7" providerId="LiveId" clId="{52FCABF3-2B32-456A-87C2-2BCB0C64A7B3}" dt="2026-05-02T11:25:23.437" v="455" actId="14100"/>
          <ac:spMkLst>
            <pc:docMk/>
            <pc:sldMk cId="0" sldId="286"/>
            <ac:spMk id="16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2.xml"/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3.xml"/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4.xml"/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B4D8"/>
                </a:solidFill>
                <a:latin typeface="Calibri"/>
              </a:defRPr>
            </a:pPr>
            <a:r>
              <a:rPr lang="tr-TR" sz="1200" b="0" i="0" u="none" strike="noStrike">
                <a:solidFill>
                  <a:srgbClr val="00B4D8"/>
                </a:solidFill>
                <a:latin typeface="Calibri"/>
              </a:rPr>
              <a:t>Sınıf Dağılımı (n=19,020)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Sınıf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191-4703-B442-895617F34F10}"/>
              </c:ext>
            </c:extLst>
          </c:dPt>
          <c:dPt>
            <c:idx val="1"/>
            <c:bubble3D val="0"/>
            <c:spPr>
              <a:solidFill>
                <a:srgbClr val="EF23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191-4703-B442-895617F34F1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5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tr-T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191-4703-B442-895617F34F1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5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tr-T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191-4703-B442-895617F34F1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tr-TR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Gama (g) — 1</c:v>
                </c:pt>
                <c:pt idx="1">
                  <c:v>Hadron (h) — 0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12332</c:v>
                </c:pt>
                <c:pt idx="1">
                  <c:v>6688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191-4703-B442-895617F34F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D1B2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6D6A0"/>
                </a:solidFill>
                <a:latin typeface="Calibri"/>
              </a:defRPr>
            </a:pPr>
            <a:r>
              <a:rPr lang="tr-TR" sz="1100" b="0" i="0" u="none" strike="noStrike">
                <a:solidFill>
                  <a:srgbClr val="06D6A0"/>
                </a:solidFill>
                <a:latin typeface="Calibri"/>
              </a:rPr>
              <a:t>k Değerine Göre CV Doğruluğu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CAE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5"/>
          <c:min val="0.79"/>
        </c:scaling>
        <c:delete val="0"/>
        <c:axPos val="l"/>
        <c:majorGridlines>
          <c:spPr>
            <a:ln w="6350" cap="flat">
              <a:solidFill>
                <a:srgbClr val="1E35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CAE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solidFill>
      <a:srgbClr val="0D1B2A"/>
    </a:solidFill>
    <a:ln>
      <a:noFill/>
    </a:ln>
    <a:effectLst/>
  </c:spPr>
  <c:externalData r:id="rId1">
    <c:autoUpdate val="0"/>
  </c:externalData>
  <c:userShapes r:id="rId2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autoTitleDeleted val="1"/>
    <c:plotArea>
      <c:layout/>
      <c:barChart>
        <c:barDir val="col"/>
        <c:grouping val="clustered"/>
        <c:varyColors val="0"/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CAE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1E35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C2B3F"/>
    </a:solidFill>
    <a:ln>
      <a:noFill/>
    </a:ln>
    <a:effectLst/>
  </c:spPr>
  <c:externalData r:id="rId1">
    <c:autoUpdate val="0"/>
  </c:externalData>
  <c:userShapes r:id="rId2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B4D8"/>
                </a:solidFill>
                <a:latin typeface="Arial"/>
              </a:defRPr>
            </a:pPr>
            <a:r>
              <a:rPr lang="tr-TR" sz="1100" b="0" i="0" u="none" strike="noStrike">
                <a:solidFill>
                  <a:srgbClr val="00B4D8"/>
                </a:solidFill>
                <a:latin typeface="Arial"/>
              </a:rPr>
              <a:t>Sınıf Dağılımı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Sınıf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530-49FF-AD67-8EFBE633A16B}"/>
              </c:ext>
            </c:extLst>
          </c:dPt>
          <c:dPt>
            <c:idx val="1"/>
            <c:bubble3D val="0"/>
            <c:spPr>
              <a:solidFill>
                <a:srgbClr val="EF23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530-49FF-AD67-8EFBE633A16B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tr-T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530-49FF-AD67-8EFBE633A16B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tr-T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530-49FF-AD67-8EFBE633A16B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tr-TR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Gama — 12,332</c:v>
                </c:pt>
                <c:pt idx="1">
                  <c:v>Hadron — 6,688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12332</c:v>
                </c:pt>
                <c:pt idx="1">
                  <c:v>6688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530-49FF-AD67-8EFBE633A1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legendEntry>
        <c:idx val="0"/>
        <c:txPr>
          <a:bodyPr/>
          <a:lstStyle/>
          <a:p>
            <a:pPr>
              <a:defRPr sz="90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defRPr>
            </a:pPr>
            <a:endParaRPr lang="en-US"/>
          </a:p>
        </c:txPr>
      </c:legendEntry>
      <c:legendEntry>
        <c:idx val="1"/>
        <c:txPr>
          <a:bodyPr/>
          <a:lstStyle/>
          <a:p>
            <a:pPr>
              <a:defRPr sz="90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defRPr>
            </a:pPr>
            <a:endParaRPr lang="en-US"/>
          </a:p>
        </c:txPr>
      </c:legendEntry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0D1B2A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6D6A0"/>
                </a:solidFill>
                <a:latin typeface="Calibri"/>
              </a:defRPr>
            </a:pPr>
            <a:r>
              <a:rPr lang="tr-TR" sz="1200" b="0" i="0" u="none" strike="noStrike">
                <a:solidFill>
                  <a:srgbClr val="06D6A0"/>
                </a:solidFill>
                <a:latin typeface="Calibri"/>
              </a:rPr>
              <a:t>Şekil 4 — k Değerine Göre 5-Fold CV Doğruluğu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5"/>
          <c:min val="0.79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solidFill>
      <a:srgbClr val="0D1B2A"/>
    </a:solidFill>
    <a:ln>
      <a:noFill/>
    </a:ln>
    <a:effectLst/>
  </c:spPr>
  <c:externalData r:id="rId1">
    <c:autoUpdate val="0"/>
  </c:externalData>
  <c:userShapes r:id="rId2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Doğruluğu</c:v>
                </c:pt>
              </c:strCache>
            </c:strRef>
          </c:tx>
          <c:spPr>
            <a:solidFill>
              <a:srgbClr val="EF233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966-4208-BAE1-E089831D7BB9}"/>
              </c:ext>
            </c:extLst>
          </c:dPt>
          <c:dPt>
            <c:idx val="1"/>
            <c:invertIfNegative val="0"/>
            <c:bubble3D val="0"/>
            <c:spPr>
              <a:solidFill>
                <a:srgbClr val="FF6B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966-4208-BAE1-E089831D7BB9}"/>
              </c:ext>
            </c:extLst>
          </c:dPt>
          <c:dPt>
            <c:idx val="2"/>
            <c:invertIfNegative val="0"/>
            <c:bubble3D val="0"/>
            <c:spPr>
              <a:solidFill>
                <a:srgbClr val="FFB70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966-4208-BAE1-E089831D7BB9}"/>
              </c:ext>
            </c:extLst>
          </c:dPt>
          <c:dPt>
            <c:idx val="3"/>
            <c:invertIfNegative val="0"/>
            <c:bubble3D val="0"/>
            <c:spPr>
              <a:solidFill>
                <a:srgbClr val="FFB70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966-4208-BAE1-E089831D7BB9}"/>
              </c:ext>
            </c:extLst>
          </c:dPt>
          <c:dPt>
            <c:idx val="4"/>
            <c:invertIfNegative val="0"/>
            <c:bubble3D val="0"/>
            <c:spPr>
              <a:solidFill>
                <a:srgbClr val="4CC9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966-4208-BAE1-E089831D7BB9}"/>
              </c:ext>
            </c:extLst>
          </c:dPt>
          <c:dPt>
            <c:idx val="5"/>
            <c:invertIfNegative val="0"/>
            <c:bubble3D val="0"/>
            <c:spPr>
              <a:solidFill>
                <a:srgbClr val="06D6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1966-4208-BAE1-E089831D7BB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Naive Bayes</c:v>
                </c:pt>
                <c:pt idx="1">
                  <c:v>Lojistik Reg.</c:v>
                </c:pt>
                <c:pt idx="2">
                  <c:v>KA (Gini)</c:v>
                </c:pt>
                <c:pt idx="3">
                  <c:v>KA (Entropi)</c:v>
                </c:pt>
                <c:pt idx="4">
                  <c:v>k-NN</c:v>
                </c:pt>
                <c:pt idx="5">
                  <c:v>Rastgele Orman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72.98</c:v>
                </c:pt>
                <c:pt idx="1">
                  <c:v>78.36</c:v>
                </c:pt>
                <c:pt idx="2">
                  <c:v>81.34</c:v>
                </c:pt>
                <c:pt idx="3">
                  <c:v>81.599999999999994</c:v>
                </c:pt>
                <c:pt idx="4">
                  <c:v>84.2</c:v>
                </c:pt>
                <c:pt idx="5">
                  <c:v>88.59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1966-4208-BAE1-E089831D7BB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CAE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5"/>
          <c:min val="65"/>
        </c:scaling>
        <c:delete val="0"/>
        <c:axPos val="b"/>
        <c:majorGridlines>
          <c:spPr>
            <a:ln w="6350" cap="flat">
              <a:solidFill>
                <a:srgbClr val="1E35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CAE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2032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7B2FBE"/>
                </a:solidFill>
                <a:latin typeface="Arial"/>
              </a:defRPr>
            </a:pPr>
            <a:r>
              <a:rPr lang="tr-TR" sz="1000" b="0" i="0" u="none" strike="noStrike" dirty="0">
                <a:solidFill>
                  <a:srgbClr val="7B2FBE"/>
                </a:solidFill>
                <a:latin typeface="Arial"/>
              </a:rPr>
              <a:t>YSA Doğruluk (</a:t>
            </a:r>
            <a:r>
              <a:rPr lang="tr-TR" sz="1000" b="0" i="0" u="none" strike="noStrike" dirty="0" err="1">
                <a:solidFill>
                  <a:srgbClr val="7B2FBE"/>
                </a:solidFill>
                <a:latin typeface="Arial"/>
              </a:rPr>
              <a:t>Early</a:t>
            </a:r>
            <a:r>
              <a:rPr lang="tr-TR" sz="1000" b="0" i="0" u="none" strike="noStrike" dirty="0">
                <a:solidFill>
                  <a:srgbClr val="7B2FBE"/>
                </a:solidFill>
                <a:latin typeface="Arial"/>
              </a:rPr>
              <a:t> Stop: 18. </a:t>
            </a:r>
            <a:r>
              <a:rPr lang="tr-TR" sz="1000" b="0" i="0" u="none" strike="noStrike" dirty="0" err="1">
                <a:solidFill>
                  <a:srgbClr val="7B2FBE"/>
                </a:solidFill>
                <a:latin typeface="Arial"/>
              </a:rPr>
              <a:t>Epoch</a:t>
            </a:r>
            <a:r>
              <a:rPr lang="tr-TR" sz="1000" b="0" i="0" u="none" strike="noStrike" dirty="0">
                <a:solidFill>
                  <a:srgbClr val="7B2FBE"/>
                </a:solidFill>
                <a:latin typeface="Arial"/>
              </a:rPr>
              <a:t>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CAE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7"/>
          <c:min val="0.72"/>
        </c:scaling>
        <c:delete val="0"/>
        <c:axPos val="l"/>
        <c:majorGridlines>
          <c:spPr>
            <a:ln w="6350" cap="flat">
              <a:solidFill>
                <a:srgbClr val="1E35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CAE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0D1B2A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7B2FBE"/>
                </a:solidFill>
                <a:latin typeface="Arial"/>
              </a:defRPr>
            </a:pPr>
            <a:r>
              <a:rPr lang="tr-TR" sz="1000" b="0" i="0" u="none" strike="noStrike">
                <a:solidFill>
                  <a:srgbClr val="7B2FBE"/>
                </a:solidFill>
                <a:latin typeface="Arial"/>
              </a:rPr>
              <a:t>Şekil 13 — YSA Kayıp Grafiği</a:t>
            </a:r>
          </a:p>
        </c:rich>
      </c:tx>
      <c:layout>
        <c:manualLayout>
          <c:xMode val="edge"/>
          <c:yMode val="edge"/>
          <c:x val="0.25043209876543215"/>
          <c:y val="0.26455026455026454"/>
        </c:manualLayout>
      </c:layout>
      <c:overlay val="0"/>
    </c:title>
    <c:autoTitleDeleted val="0"/>
    <c:plotArea>
      <c:layout/>
      <c:lineChart>
        <c:grouping val="standar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1E35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0D1B2A"/>
    </a:solidFill>
    <a:ln>
      <a:noFill/>
    </a:ln>
    <a:effectLst/>
  </c:spPr>
  <c:externalData r:id="rId1">
    <c:autoUpdate val="0"/>
  </c:externalData>
  <c:userShapes r:id="rId2"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Doğruluk (%)</c:v>
                </c:pt>
              </c:strCache>
            </c:strRef>
          </c:tx>
          <c:spPr>
            <a:solidFill>
              <a:srgbClr val="8888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35F-4D71-928E-B497220D72EA}"/>
              </c:ext>
            </c:extLst>
          </c:dPt>
          <c:dPt>
            <c:idx val="1"/>
            <c:invertIfNegative val="0"/>
            <c:bubble3D val="0"/>
            <c:spPr>
              <a:solidFill>
                <a:srgbClr val="EF23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35F-4D71-928E-B497220D72EA}"/>
              </c:ext>
            </c:extLst>
          </c:dPt>
          <c:dPt>
            <c:idx val="2"/>
            <c:invertIfNegative val="0"/>
            <c:bubble3D val="0"/>
            <c:spPr>
              <a:solidFill>
                <a:srgbClr val="FF6B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35F-4D71-928E-B497220D72EA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935F-4D71-928E-B497220D72EA}"/>
              </c:ext>
            </c:extLst>
          </c:dPt>
          <c:dPt>
            <c:idx val="4"/>
            <c:invertIfNegative val="0"/>
            <c:bubble3D val="0"/>
            <c:spPr>
              <a:solidFill>
                <a:srgbClr val="FF99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35F-4D71-928E-B497220D72EA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935F-4D71-928E-B497220D72EA}"/>
              </c:ext>
            </c:extLst>
          </c:dPt>
          <c:dPt>
            <c:idx val="6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935F-4D71-928E-B497220D72EA}"/>
              </c:ext>
            </c:extLst>
          </c:dPt>
          <c:dPt>
            <c:idx val="7"/>
            <c:invertIfNegative val="0"/>
            <c:bubble3D val="0"/>
            <c:spPr>
              <a:solidFill>
                <a:srgbClr val="7B2FB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935F-4D71-928E-B497220D72EA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935F-4D71-928E-B497220D72EA}"/>
              </c:ext>
            </c:extLst>
          </c:dPt>
          <c:dPt>
            <c:idx val="9"/>
            <c:invertIfNegative val="0"/>
            <c:bubble3D val="0"/>
            <c:spPr>
              <a:solidFill>
                <a:srgbClr val="FFB70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935F-4D71-928E-B497220D72EA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5-935F-4D71-928E-B497220D72EA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7-935F-4D71-928E-B497220D72E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QSVC (Lit.)</c:v>
                </c:pt>
                <c:pt idx="1">
                  <c:v>Naive Bayes (Biz)</c:v>
                </c:pt>
                <c:pt idx="2">
                  <c:v>Loj. Reg. (Biz)</c:v>
                </c:pt>
                <c:pt idx="3">
                  <c:v>KA (Lit.)</c:v>
                </c:pt>
                <c:pt idx="4">
                  <c:v>KA (Biz)</c:v>
                </c:pt>
                <c:pt idx="5">
                  <c:v>SVM (Lit.)</c:v>
                </c:pt>
                <c:pt idx="6">
                  <c:v>k-NN (Biz)</c:v>
                </c:pt>
                <c:pt idx="7">
                  <c:v>YSA (Biz)</c:v>
                </c:pt>
                <c:pt idx="8">
                  <c:v>RF (Lit.)</c:v>
                </c:pt>
                <c:pt idx="9">
                  <c:v>RF (Biz) ⭐</c:v>
                </c:pt>
                <c:pt idx="10">
                  <c:v>LSTM (Lit.)</c:v>
                </c:pt>
                <c:pt idx="11">
                  <c:v>EALSTM (Lit.)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64</c:v>
                </c:pt>
                <c:pt idx="1">
                  <c:v>72.98</c:v>
                </c:pt>
                <c:pt idx="2">
                  <c:v>78.36</c:v>
                </c:pt>
                <c:pt idx="3">
                  <c:v>82</c:v>
                </c:pt>
                <c:pt idx="4">
                  <c:v>81.599999999999994</c:v>
                </c:pt>
                <c:pt idx="5">
                  <c:v>86</c:v>
                </c:pt>
                <c:pt idx="6">
                  <c:v>84.2</c:v>
                </c:pt>
                <c:pt idx="7">
                  <c:v>87</c:v>
                </c:pt>
                <c:pt idx="8">
                  <c:v>87.29</c:v>
                </c:pt>
                <c:pt idx="9">
                  <c:v>88.59</c:v>
                </c:pt>
                <c:pt idx="10">
                  <c:v>88.71</c:v>
                </c:pt>
                <c:pt idx="11">
                  <c:v>97.18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935F-4D71-928E-B497220D72E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CAE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55"/>
        </c:scaling>
        <c:delete val="0"/>
        <c:axPos val="b"/>
        <c:majorGridlines>
          <c:spPr>
            <a:ln w="6350" cap="flat">
              <a:solidFill>
                <a:srgbClr val="1E35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CAE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D1B2A"/>
    </a:solidFill>
    <a:ln>
      <a:noFill/>
    </a:ln>
    <a:effectLst/>
  </c:spPr>
  <c:externalData r:id="rId1">
    <c:autoUpdate val="0"/>
  </c:externalData>
</c:chartSpac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drawing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5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0.03823</cdr:x>
      <cdr:y>0.08805</cdr:y>
    </cdr:from>
    <cdr:to>
      <cdr:x>0.96842</cdr:x>
      <cdr:y>0.91507</cdr:y>
    </cdr:to>
    <cdr:pic>
      <cdr:nvPicPr>
        <cdr:cNvPr id="2" name="Resim 1">
          <a:extLst xmlns:a="http://schemas.openxmlformats.org/drawingml/2006/main">
            <a:ext uri="{FF2B5EF4-FFF2-40B4-BE49-F238E27FC236}">
              <a16:creationId xmlns:a16="http://schemas.microsoft.com/office/drawing/2014/main" id="{97FDFAAC-78F4-E5A8-6FFE-20ADEABE224C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>
          <a:extLst>
            <a:ext uri="{28A0092B-C50C-407E-A947-70E740481C1C}">
              <a14:useLocalDpi xmlns:a14="http://schemas.microsoft.com/office/drawing/2010/main" val="0"/>
            </a:ext>
          </a:extLst>
        </a:blip>
        <a:srcRect xmlns:a="http://schemas.openxmlformats.org/drawingml/2006/main"/>
        <a:stretch xmlns:a="http://schemas.openxmlformats.org/drawingml/2006/main">
          <a:fillRect/>
        </a:stretch>
      </cdr:blipFill>
      <cdr:spPr bwMode="auto">
        <a:xfrm xmlns:a="http://schemas.openxmlformats.org/drawingml/2006/main">
          <a:off x="166052" y="257648"/>
          <a:ext cx="4040188" cy="2419928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</cdr:pic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2" name="Resim 1">
          <a:extLst xmlns:a="http://schemas.openxmlformats.org/drawingml/2006/main">
            <a:ext uri="{FF2B5EF4-FFF2-40B4-BE49-F238E27FC236}">
              <a16:creationId xmlns:a16="http://schemas.microsoft.com/office/drawing/2014/main" id="{D7940FD9-E723-49C6-324B-23A7E426C4D5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 cstate="print">
          <a:extLst>
            <a:ext uri="{28A0092B-C50C-407E-A947-70E740481C1C}">
              <a14:useLocalDpi xmlns:a14="http://schemas.microsoft.com/office/drawing/2010/main" val="0"/>
            </a:ext>
          </a:extLst>
        </a:blip>
        <a:srcRect xmlns:a="http://schemas.openxmlformats.org/drawingml/2006/main"/>
        <a:stretch xmlns:a="http://schemas.openxmlformats.org/drawingml/2006/main">
          <a:fillRect/>
        </a:stretch>
      </cdr:blipFill>
      <cdr:spPr bwMode="auto">
        <a:xfrm xmlns:a="http://schemas.openxmlformats.org/drawingml/2006/main">
          <a:off x="1634490" y="1871345"/>
          <a:ext cx="4137025" cy="2326640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</cdr:pic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0.04237</cdr:x>
      <cdr:y>0.11923</cdr:y>
    </cdr:from>
    <cdr:to>
      <cdr:x>0.95763</cdr:x>
      <cdr:y>0.91026</cdr:y>
    </cdr:to>
    <cdr:pic>
      <cdr:nvPicPr>
        <cdr:cNvPr id="2" name="Resim 1">
          <a:extLst xmlns:a="http://schemas.openxmlformats.org/drawingml/2006/main">
            <a:ext uri="{FF2B5EF4-FFF2-40B4-BE49-F238E27FC236}">
              <a16:creationId xmlns:a16="http://schemas.microsoft.com/office/drawing/2014/main" id="{1C4C1407-4F8E-1F86-2206-46F04267D10A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>
          <a:extLst>
            <a:ext uri="{28A0092B-C50C-407E-A947-70E740481C1C}">
              <a14:useLocalDpi xmlns:a14="http://schemas.microsoft.com/office/drawing/2010/main" val="0"/>
            </a:ext>
          </a:extLst>
        </a:blip>
        <a:srcRect xmlns:a="http://schemas.openxmlformats.org/drawingml/2006/main"/>
        <a:stretch xmlns:a="http://schemas.openxmlformats.org/drawingml/2006/main">
          <a:fillRect/>
        </a:stretch>
      </cdr:blipFill>
      <cdr:spPr bwMode="auto">
        <a:xfrm xmlns:a="http://schemas.openxmlformats.org/drawingml/2006/main">
          <a:off x="232441" y="425196"/>
          <a:ext cx="5021518" cy="2820924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</cdr:pic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0.06517</cdr:x>
      <cdr:y>0.04762</cdr:y>
    </cdr:from>
    <cdr:to>
      <cdr:x>0.96783</cdr:x>
      <cdr:y>0.95843</cdr:y>
    </cdr:to>
    <cdr:pic>
      <cdr:nvPicPr>
        <cdr:cNvPr id="2" name="Resim 1">
          <a:extLst xmlns:a="http://schemas.openxmlformats.org/drawingml/2006/main">
            <a:ext uri="{FF2B5EF4-FFF2-40B4-BE49-F238E27FC236}">
              <a16:creationId xmlns:a16="http://schemas.microsoft.com/office/drawing/2014/main" id="{163C3BC9-573F-8F7E-5E1E-384B1BA3C359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>
          <a:extLst>
            <a:ext uri="{28A0092B-C50C-407E-A947-70E740481C1C}">
              <a14:useLocalDpi xmlns:a14="http://schemas.microsoft.com/office/drawing/2010/main" val="0"/>
            </a:ext>
          </a:extLst>
        </a:blip>
        <a:srcRect xmlns:a="http://schemas.openxmlformats.org/drawingml/2006/main"/>
        <a:stretch xmlns:a="http://schemas.openxmlformats.org/drawingml/2006/main">
          <a:fillRect/>
        </a:stretch>
      </cdr:blipFill>
      <cdr:spPr bwMode="auto">
        <a:xfrm xmlns:a="http://schemas.openxmlformats.org/drawingml/2006/main">
          <a:off x="268141" y="91440"/>
          <a:ext cx="3714281" cy="1748969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</cdr:pic>
  </cdr:relSizeAnchor>
</c:userShape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3T13:08:48.30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1598.60742"/>
      <inkml:brushProperty name="anchorY" value="-9776.56152"/>
      <inkml:brushProperty name="scaleFactor" value="0.5"/>
    </inkml:brush>
  </inkml:definitions>
  <inkml:trace contextRef="#ctx0" brushRef="#br0">0 0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3381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customXml" Target="../ink/ink1.xml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chart" Target="../charts/char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5486400" cy="5486400"/>
          </a:xfrm>
          <a:prstGeom prst="ellipse">
            <a:avLst/>
          </a:prstGeom>
          <a:solidFill>
            <a:srgbClr val="142438">
              <a:alpha val="70000"/>
            </a:srgbClr>
          </a:solidFill>
          <a:ln w="12700">
            <a:solidFill>
              <a:srgbClr val="14243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7498080" y="-457200"/>
            <a:ext cx="2286000" cy="228600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73152" cy="3474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685800" y="77724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VERİ BİLİMİ PROJESİ  •  MAGIC GAMMA TELESKOBİ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115568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Gama-Hadron Sınıflandırması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Makine Öğrenmesi ve Derin Öğrenme Yöntemleriyle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Atmosferik Çerenkov Teleskop Verisi Analizi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1965960" cy="1463040"/>
          </a:xfrm>
          <a:prstGeom prst="rect">
            <a:avLst/>
          </a:prstGeom>
          <a:solidFill>
            <a:srgbClr val="162032"/>
          </a:solidFill>
          <a:ln w="1270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457200" y="297180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19,020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" y="368503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Gözlem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33472" y="2926080"/>
            <a:ext cx="1965960" cy="1463040"/>
          </a:xfrm>
          <a:prstGeom prst="rect">
            <a:avLst/>
          </a:prstGeom>
          <a:solidFill>
            <a:srgbClr val="162032"/>
          </a:solidFill>
          <a:ln w="1270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2633472" y="297180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633472" y="368503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Sayısal Özellik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09744" y="2926080"/>
            <a:ext cx="1965960" cy="1463040"/>
          </a:xfrm>
          <a:prstGeom prst="rect">
            <a:avLst/>
          </a:prstGeom>
          <a:solidFill>
            <a:srgbClr val="162032"/>
          </a:solidFill>
          <a:ln w="1270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4809744" y="297180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%88.59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809744" y="368503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Yüksek Doğruluk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86016" y="2926080"/>
            <a:ext cx="1965960" cy="1463040"/>
          </a:xfrm>
          <a:prstGeom prst="rect">
            <a:avLst/>
          </a:prstGeom>
          <a:solidFill>
            <a:srgbClr val="162032"/>
          </a:solidFill>
          <a:ln w="1270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6986016" y="297180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0.9382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986016" y="368503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(Optimize RF)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Machine Learning Repository  •  MAGIC Collaboration  •  Monte Carlo Simülasyon Verisi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412480" y="491947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r>
              <a:rPr lang="tr-TR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2438"/>
          </a:solidFill>
          <a:ln w="12700">
            <a:solidFill>
              <a:srgbClr val="14243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365760" y="1828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ÖZET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Çalışmanın kısa özeti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8595360" cy="4023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4023360" cy="1143000"/>
          </a:xfrm>
          <a:prstGeom prst="rect">
            <a:avLst/>
          </a:prstGeom>
          <a:solidFill>
            <a:srgbClr val="1C2B3F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566928" y="129844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 Problem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162763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Atmosferik Çerenkov teleskoplarıyla kaydedilen gama ışınlarını arka plan gürültüsü oluşturan hadron sinyallerinden ayırt etmek.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1234440"/>
            <a:ext cx="4023360" cy="1143000"/>
          </a:xfrm>
          <a:prstGeom prst="rect">
            <a:avLst/>
          </a:prstGeom>
          <a:solidFill>
            <a:srgbClr val="1C2B3F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4864608" y="129844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Veri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64608" y="162763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ML Repodan 19.020 gözlem, 10 sayısal özellik; 12.332 Gama – 6.688 Hadron. Sınıf dengesizliği 1,84:1.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496312"/>
            <a:ext cx="4023360" cy="1143000"/>
          </a:xfrm>
          <a:prstGeom prst="rect">
            <a:avLst/>
          </a:prstGeom>
          <a:solidFill>
            <a:srgbClr val="1C2B3F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566928" y="2560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Yöntem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" y="2889504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→ %80/%20 bölme → StandardScaler → SMOTE Pipeline → 7 model (LR, k-NN, KA×2, RF, NB, YSA) → 5-fold CV.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2496312"/>
            <a:ext cx="4023360" cy="1143000"/>
          </a:xfrm>
          <a:prstGeom prst="rect">
            <a:avLst/>
          </a:prstGeom>
          <a:solidFill>
            <a:srgbClr val="1C2B3F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4864608" y="2560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Özgün Katkılar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64608" y="2889504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Pipeline entegrasyonu, RF hiperparametre optimizasyonu, SHAP açıklanabilir YZ, PCA boyut indirgeme karşılaştırması.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758184"/>
            <a:ext cx="4023360" cy="1143000"/>
          </a:xfrm>
          <a:prstGeom prst="rect">
            <a:avLst/>
          </a:prstGeom>
          <a:solidFill>
            <a:srgbClr val="1C2B3F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566928" y="38221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En İyi Sonuç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" y="4151376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Rastgele Orman: %88,59 doğruluk, ROC-AUC 0,9374. Kararlar SHAP ile küresel+yerel düzeyde yorumlandı.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3758184"/>
            <a:ext cx="4023360" cy="1143000"/>
          </a:xfrm>
          <a:prstGeom prst="rect">
            <a:avLst/>
          </a:prstGeom>
          <a:solidFill>
            <a:srgbClr val="1C2B3F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4864608" y="38221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Gözetimsiz Öğrenme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64608" y="4151376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ARI: 0,0076 ≈ 0 → Uzay verisinde gözetimsiz yöntemler yetersiz; gözetimli öğrenme zorunlu kanıtlandı.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412480" y="491947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r>
              <a:rPr lang="tr-TR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2438"/>
          </a:solidFill>
          <a:ln w="12700">
            <a:solidFill>
              <a:srgbClr val="14243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365760" y="1828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GİRİŞ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Problemin Motivasyonu ve Araştırma Soruları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5394960" cy="397764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550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411480" y="1207008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🌌  Neden Bu Problem?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627632"/>
            <a:ext cx="51663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enerjili kozmik ışınların kaynağını saptamak güncel astrofiziğin en zorlu problemlerinden biridir.
</a:t>
            </a:r>
            <a:r>
              <a:rPr lang="en-US" sz="11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Atmosferik Çerenkov teleskopları </a:t>
            </a:r>
            <a:r>
              <a:rPr lang="en-US" sz="11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atmosfere giren parçacıkların anlık ışık izlerini kaydeder.
</a:t>
            </a: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Ancak: </a:t>
            </a:r>
            <a:r>
              <a:rPr lang="en-US" sz="11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Kaydedilen sinyallerin büyük çoğunluğu gerçek gama değil, arka plan gürültüsü oluşturan hadron kaynaklıdır.
</a:t>
            </a:r>
            <a:r>
              <a:rPr lang="en-US" sz="1100" b="1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durum: </a:t>
            </a:r>
            <a:r>
              <a:rPr lang="en-US" sz="11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Teleskop gözlem süresinin verimsiz kullanılması ve bilimsel analizlerin güvenilirliğinin düşmesi anlamına gelir.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52160" y="1143000"/>
            <a:ext cx="3063240" cy="397764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550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5989320" y="120700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Araştırma Soruları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89320" y="1664208"/>
            <a:ext cx="2788920" cy="566928"/>
          </a:xfrm>
          <a:prstGeom prst="rect">
            <a:avLst/>
          </a:prstGeom>
          <a:solidFill>
            <a:srgbClr val="1C2B3F"/>
          </a:solidFill>
          <a:ln w="12700">
            <a:solidFill>
              <a:srgbClr val="1E35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6016752" y="1664208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0" y="1664208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 dengesizliğinde en güçlü algoritma ailesi hangisi?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89320" y="2322576"/>
            <a:ext cx="2788920" cy="566928"/>
          </a:xfrm>
          <a:prstGeom prst="rect">
            <a:avLst/>
          </a:prstGeom>
          <a:solidFill>
            <a:srgbClr val="1C2B3F"/>
          </a:solidFill>
          <a:ln w="12700">
            <a:solidFill>
              <a:srgbClr val="1E35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6016752" y="2322576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2322576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Pipeline entegrasyonu azınlık sınıfını iyileştiriyor mu?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89320" y="2980944"/>
            <a:ext cx="2788920" cy="566928"/>
          </a:xfrm>
          <a:prstGeom prst="rect">
            <a:avLst/>
          </a:prstGeom>
          <a:solidFill>
            <a:srgbClr val="1C2B3F"/>
          </a:solidFill>
          <a:ln w="12700">
            <a:solidFill>
              <a:srgbClr val="1E35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6016752" y="2980944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2980944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Boyut indirgeme sınıflandırma başarımını nasıl etkiliyor?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89320" y="3639312"/>
            <a:ext cx="2788920" cy="566928"/>
          </a:xfrm>
          <a:prstGeom prst="rect">
            <a:avLst/>
          </a:prstGeom>
          <a:solidFill>
            <a:srgbClr val="1C2B3F"/>
          </a:solidFill>
          <a:ln w="12700">
            <a:solidFill>
              <a:srgbClr val="1E35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6016752" y="3639312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3639312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Gözetimsiz öğrenme karmaşık uzay verisinde anlamlı kümeler üretiyor mu?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89320" y="4297680"/>
            <a:ext cx="2788920" cy="566928"/>
          </a:xfrm>
          <a:prstGeom prst="rect">
            <a:avLst/>
          </a:prstGeom>
          <a:solidFill>
            <a:srgbClr val="1C2B3F"/>
          </a:solidFill>
          <a:ln w="12700">
            <a:solidFill>
              <a:srgbClr val="1E35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6016752" y="4297680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0" y="4297680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kararlarını yönlendiren temel değişkenler hangileri?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412480" y="491947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r>
              <a:rPr lang="tr-TR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2438"/>
          </a:solidFill>
          <a:ln w="12700">
            <a:solidFill>
              <a:srgbClr val="14243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365760" y="1828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GİRİŞ — Önceki Çalışmalar (Özet)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Konuyla ilgili temel referanslar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20624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73152" cy="1188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438912" y="12344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Ohtani &amp; MAGIC Collab. (2021)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160020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Rastgele Orman'ı standart prosedür olarak benimsedi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143000"/>
            <a:ext cx="420624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6D6A0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4709160" y="1143000"/>
            <a:ext cx="73152" cy="11887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4873752" y="12344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Karthick vd. (2024)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73752" y="160020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katmanlı LSTM+ReLU ile %88.71 doğruluk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441448"/>
            <a:ext cx="420624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FFB703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274320" y="2441448"/>
            <a:ext cx="73152" cy="118872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438912" y="253288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Mattar &amp; Towfek (2026)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" y="289864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Dikkat mekanizmalı LSTM + ABGGO: %97.18 doğruluk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9160" y="2441448"/>
            <a:ext cx="420624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7B2FBE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4709160" y="2441448"/>
            <a:ext cx="73152" cy="11887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4873752" y="253288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Bhandari &amp; Adhikari (2024)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73752" y="289864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Ağacı ile %82 doğruluk (derinlik 9)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3739896"/>
            <a:ext cx="420624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8ECAE6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274320" y="3739896"/>
            <a:ext cx="73152" cy="1188720"/>
          </a:xfrm>
          <a:prstGeom prst="rect">
            <a:avLst/>
          </a:prstGeom>
          <a:solidFill>
            <a:srgbClr val="8ECAE6"/>
          </a:solidFill>
          <a:ln w="12700">
            <a:solidFill>
              <a:srgbClr val="8ECAE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438912" y="383133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Anitha vd. (2024)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8912" y="4197096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Rastgele Orman: %87.29 | AdaBoost: %87.09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09160" y="3739896"/>
            <a:ext cx="420624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90E0EF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7" name="Shape 25"/>
          <p:cNvSpPr/>
          <p:nvPr/>
        </p:nvSpPr>
        <p:spPr>
          <a:xfrm>
            <a:off x="4709160" y="3739896"/>
            <a:ext cx="73152" cy="1188720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4873752" y="383133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Lustosa &amp; Menzies (2025)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73752" y="4197096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 algoritmalar da yüksek başarı sağlıyor, 100x daha hızlı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4828032"/>
            <a:ext cx="8595360" cy="292608"/>
          </a:xfrm>
          <a:prstGeom prst="rect">
            <a:avLst/>
          </a:prstGeom>
          <a:solidFill>
            <a:srgbClr val="1A0D00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411480" y="484632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Bu Çalışmanın Farkı: Veri sızıntısını önleyen izole Pipeline + Klasik ML &amp; YSA yarışması + SHAP ile şeffaflık — Literatürde bütüncül bu yaklaşım kısıtlıdır!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412480" y="491947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</a:t>
            </a:r>
            <a:r>
              <a:rPr lang="tr-TR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2743200" y="457200"/>
            <a:ext cx="3657600" cy="3657600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Materyal</a:t>
            </a:r>
            <a:endParaRPr lang="en-US" sz="4200" dirty="0"/>
          </a:p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Yöntem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2743200" y="3566160"/>
            <a:ext cx="36576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Google Colab  •  Scikit-learn  •  TensorFlow/Keras  •  SHAP  •  Imbalanced-learn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1605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Seed: 42 (Reproducibility)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412480" y="491947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</a:t>
            </a:r>
            <a:r>
              <a:rPr lang="tr-TR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2438"/>
          </a:solidFill>
          <a:ln w="12700">
            <a:solidFill>
              <a:srgbClr val="14243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365760" y="1828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 Veri Seti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Gamma Telescope — UCI Machine Learning Repository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14800" cy="4069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384048" y="1188720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118872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56816" y="11887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Machine Learning Repository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1645920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9808" y="164592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Üretim: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56816" y="16459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CORSIKA Monte Carlo Simülasyonu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048" y="2103120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9808" y="210312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Gözlem: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56816" y="21031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19.020 satır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4048" y="2560320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49808" y="256032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56816" y="25603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sayısal bağımsız değişken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4048" y="3017520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9808" y="301752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956816" y="30175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Gama (g) → 1 / Hadron (h) → 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4048" y="3474720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9808" y="347472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Eksik Değer: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956816" y="34747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YOK (temiz veri)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4048" y="3931920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9808" y="393192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Dengesizlik: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956816" y="39319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1,84:1 (12.332 Gama / 6.688 Hadron)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4048" y="4389120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49808" y="438912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Parametreler: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956816" y="43891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Hillas Parametreleri (eliptik ışık izleri)</a:t>
            </a:r>
            <a:endParaRPr lang="en-US" sz="1000" dirty="0"/>
          </a:p>
        </p:txBody>
      </p:sp>
      <p:graphicFrame>
        <p:nvGraphicFramePr>
          <p:cNvPr id="31" name="Chart 0"/>
          <p:cNvGraphicFramePr/>
          <p:nvPr>
            <p:extLst>
              <p:ext uri="{D42A27DB-BD31-4B8C-83A1-F6EECF244321}">
                <p14:modId xmlns:p14="http://schemas.microsoft.com/office/powerpoint/2010/main" val="1751416872"/>
              </p:ext>
            </p:extLst>
          </p:nvPr>
        </p:nvGraphicFramePr>
        <p:xfrm>
          <a:off x="4572000" y="1097280"/>
          <a:ext cx="438912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2" name="Shape 29"/>
          <p:cNvSpPr/>
          <p:nvPr/>
        </p:nvSpPr>
        <p:spPr>
          <a:xfrm>
            <a:off x="4572000" y="3749040"/>
            <a:ext cx="4389120" cy="1417320"/>
          </a:xfrm>
          <a:prstGeom prst="rect">
            <a:avLst/>
          </a:prstGeom>
          <a:solidFill>
            <a:srgbClr val="1A0800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 30"/>
          <p:cNvSpPr/>
          <p:nvPr/>
        </p:nvSpPr>
        <p:spPr>
          <a:xfrm>
            <a:off x="4709160" y="380390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Hillas Parametreleri Nedir?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709160" y="4160520"/>
            <a:ext cx="4160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gözlem, teleskop kamerasına düşen eliptik ışık izinin geometrik ve yoğunluk özelliklerini tanımlar. Bu parametreler gama ve hadron olaylarının fiziksel farklılıklarını sayısal olarak yansıtır.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8412480" y="491947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</a:t>
            </a:r>
            <a:r>
              <a:rPr lang="tr-TR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2438"/>
          </a:solidFill>
          <a:ln w="12700">
            <a:solidFill>
              <a:srgbClr val="14243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365760" y="1828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Veri Setindeki Değişkenler ve Açıklamaları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Hillas Parametresi: Anlamı ve Fiziksel Yorumu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1907697"/>
              </p:ext>
            </p:extLst>
          </p:nvPr>
        </p:nvGraphicFramePr>
        <p:xfrm>
          <a:off x="274320" y="1078992"/>
          <a:ext cx="7368494" cy="402336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8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39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B4D8"/>
                          </a:solidFill>
                        </a:rPr>
                        <a:t>Değişken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B4D8"/>
                          </a:solidFill>
                        </a:rPr>
                        <a:t>Açıklama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B4D8"/>
                          </a:solidFill>
                        </a:rPr>
                        <a:t>Fiziksel Anlam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B4D8"/>
                          </a:solidFill>
                        </a:rPr>
                        <a:t>Önem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</a:rPr>
                        <a:t>fLength</a:t>
                      </a:r>
                      <a:endParaRPr lang="en-US" sz="95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</a:rPr>
                        <a:t>Elipsin ana ekseninin uzunluğu (mm)</a:t>
                      </a:r>
                      <a:endParaRPr lang="en-US" sz="95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</a:rPr>
                        <a:t>Işık izinin uzunluğunu tanımlar</a:t>
                      </a:r>
                      <a:endParaRPr lang="en-US" sz="95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FB703"/>
                          </a:solidFill>
                        </a:rPr>
                        <a:t>★★★★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</a:rPr>
                        <a:t>fWidth</a:t>
                      </a:r>
                      <a:endParaRPr lang="en-US" sz="95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</a:rPr>
                        <a:t>Elipsin kısa ekseninin uzunluğu (mm)</a:t>
                      </a:r>
                      <a:endParaRPr lang="en-US" sz="95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</a:rPr>
                        <a:t>Işık izinin genişliğini tanımlar</a:t>
                      </a:r>
                      <a:endParaRPr lang="en-US" sz="95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FB703"/>
                          </a:solidFill>
                        </a:rPr>
                        <a:t>★★★★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</a:rPr>
                        <a:t>fSize</a:t>
                      </a:r>
                      <a:endParaRPr lang="en-US" sz="95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</a:rPr>
                        <a:t>Tüm piksel yoğunluklarının logaritmik toplamı</a:t>
                      </a:r>
                      <a:endParaRPr lang="en-US" sz="95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</a:rPr>
                        <a:t>Toplam enerji birikimi</a:t>
                      </a:r>
                      <a:endParaRPr lang="en-US" sz="95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8ECAE6"/>
                          </a:solidFill>
                        </a:rPr>
                        <a:t>★★★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</a:rPr>
                        <a:t>fConc</a:t>
                      </a:r>
                      <a:endParaRPr lang="en-US" sz="95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</a:rPr>
                        <a:t>En parlak 2 pikselin toplam yoğunluğa oranı</a:t>
                      </a:r>
                      <a:endParaRPr lang="en-US" sz="95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</a:rPr>
                        <a:t>Konsantrasyon ölçüsü</a:t>
                      </a:r>
                      <a:endParaRPr lang="en-US" sz="95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8ECAE6"/>
                          </a:solidFill>
                        </a:rPr>
                        <a:t>★★★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</a:rPr>
                        <a:t>fConc1</a:t>
                      </a:r>
                      <a:endParaRPr lang="en-US" sz="95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</a:rPr>
                        <a:t>En parlak tek pikselin toplam yoğunluğa oranı</a:t>
                      </a:r>
                      <a:endParaRPr lang="en-US" sz="95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</a:rPr>
                        <a:t>Tek piksel konsantrasyonu (fConc ile r=0.98!)</a:t>
                      </a:r>
                      <a:endParaRPr lang="en-US" sz="95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8ECAE6"/>
                          </a:solidFill>
                        </a:rPr>
                        <a:t>★★★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</a:rPr>
                        <a:t>fAsym</a:t>
                      </a:r>
                      <a:endParaRPr lang="en-US" sz="95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</a:rPr>
                        <a:t>Elipsin uzun eksenine göre asimetri ölçüsü (mm)</a:t>
                      </a:r>
                      <a:endParaRPr lang="en-US" sz="95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</a:rPr>
                        <a:t>Işık izinin simetri bozukluğu</a:t>
                      </a:r>
                      <a:endParaRPr lang="en-US" sz="95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6B9EC0"/>
                          </a:solidFill>
                        </a:rPr>
                        <a:t>★★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</a:rPr>
                        <a:t>fM3Long</a:t>
                      </a:r>
                      <a:endParaRPr lang="en-US" sz="95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</a:rPr>
                        <a:t>Uzun eksende üçüncü moment (mm)</a:t>
                      </a:r>
                      <a:endParaRPr lang="en-US" sz="95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</a:rPr>
                        <a:t>Yoğunluk dağılımının çarpıklığı (uzun eksen)</a:t>
                      </a:r>
                      <a:endParaRPr lang="en-US" sz="95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6B9EC0"/>
                          </a:solidFill>
                        </a:rPr>
                        <a:t>★★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</a:rPr>
                        <a:t>fM3Trans</a:t>
                      </a:r>
                      <a:endParaRPr lang="en-US" sz="95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</a:rPr>
                        <a:t>Kısa eksende üçüncü moment (mm)</a:t>
                      </a:r>
                      <a:endParaRPr lang="en-US" sz="95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</a:rPr>
                        <a:t>Yoğunluk dağılımının çarpıklığı (kısa eksen)</a:t>
                      </a:r>
                      <a:endParaRPr lang="en-US" sz="95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6B9EC0"/>
                          </a:solidFill>
                        </a:rPr>
                        <a:t>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</a:rPr>
                        <a:t>fAlpha ⭐</a:t>
                      </a:r>
                      <a:endParaRPr lang="en-US" sz="95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</a:rPr>
                        <a:t>Görüntü ekseninin kaynak yönüyle yaptığı açı (°)</a:t>
                      </a:r>
                      <a:endParaRPr lang="en-US" sz="95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</a:rPr>
                        <a:t>Gama'da düşük, Hadron'da rastgele dağılımlı</a:t>
                      </a:r>
                      <a:endParaRPr lang="en-US" sz="95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B703"/>
                          </a:solidFill>
                        </a:rPr>
                        <a:t>★★★★★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</a:rPr>
                        <a:t>fDist</a:t>
                      </a:r>
                      <a:endParaRPr lang="en-US" sz="95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</a:rPr>
                        <a:t>Görüntü merkezinin kamera merkezine uzaklığı (mm)</a:t>
                      </a:r>
                      <a:endParaRPr lang="en-US" sz="95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</a:rPr>
                        <a:t>Kamera içindeki konum bilgisi</a:t>
                      </a:r>
                      <a:endParaRPr lang="en-US" sz="95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6B9EC0"/>
                          </a:solidFill>
                        </a:rPr>
                        <a:t>★★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412480" y="491947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</a:t>
            </a:r>
            <a:r>
              <a:rPr lang="tr-TR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2438"/>
          </a:solidFill>
          <a:ln w="12700">
            <a:solidFill>
              <a:srgbClr val="14243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365760" y="1828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 Keşifsel Veri Analizi (EDA)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Modelleme öncesi değişken ilişkilerinin incelenmesi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5303520" cy="4069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411480" y="116128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             </a:t>
            </a: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Korelasyon </a:t>
            </a:r>
            <a:r>
              <a:rPr lang="en-US" sz="1200" b="1" dirty="0" err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Isı</a:t>
            </a: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Haritası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760720" y="1097280"/>
            <a:ext cx="3200400" cy="406908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550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5870448" y="116128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EDA'nın Modellemeye Katkısı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870448" y="1600200"/>
            <a:ext cx="2971800" cy="1051560"/>
          </a:xfrm>
          <a:prstGeom prst="rect">
            <a:avLst/>
          </a:prstGeom>
          <a:solidFill>
            <a:srgbClr val="1C2B3F"/>
          </a:solidFill>
          <a:ln w="12700">
            <a:solidFill>
              <a:srgbClr val="1E35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5989320" y="1645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Naive Bayes Uyarısı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89320" y="196596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fConc–fConc1 korelasyonu bağımsızlık varsayımını ihlal ediyor → düşük performans beklenir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870448" y="2770632"/>
            <a:ext cx="2971800" cy="1051560"/>
          </a:xfrm>
          <a:prstGeom prst="rect">
            <a:avLst/>
          </a:prstGeom>
          <a:solidFill>
            <a:srgbClr val="1C2B3F"/>
          </a:solidFill>
          <a:ln w="12700">
            <a:solidFill>
              <a:srgbClr val="1E35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5989320" y="28163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PCA Gereksinimi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989320" y="3136392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korelasyonlu değişkenler bilgiyi tekrar ediyor → boyut indirgeme mantıklı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870448" y="3941064"/>
            <a:ext cx="2971800" cy="1051560"/>
          </a:xfrm>
          <a:prstGeom prst="rect">
            <a:avLst/>
          </a:prstGeom>
          <a:solidFill>
            <a:srgbClr val="1C2B3F"/>
          </a:solidFill>
          <a:ln w="12700">
            <a:solidFill>
              <a:srgbClr val="1E35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/>
          <p:nvPr/>
        </p:nvSpPr>
        <p:spPr>
          <a:xfrm>
            <a:off x="5989320" y="398678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fAlpha Öne Çıkıyor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989320" y="4306824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ile en güçlü ilişki → özellik önem analizinde de birinci sıraya oturacak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412480" y="491947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</a:t>
            </a:r>
            <a:r>
              <a:rPr lang="tr-TR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pic>
        <p:nvPicPr>
          <p:cNvPr id="41" name="Resim 40">
            <a:extLst>
              <a:ext uri="{FF2B5EF4-FFF2-40B4-BE49-F238E27FC236}">
                <a16:creationId xmlns:a16="http://schemas.microsoft.com/office/drawing/2014/main" id="{321429E2-661D-36AF-BDE0-8E8E900348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940" y="1572768"/>
            <a:ext cx="4656280" cy="33133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2438"/>
          </a:solidFill>
          <a:ln w="12700">
            <a:solidFill>
              <a:srgbClr val="14243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365760" y="1828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 Veri Bölme ve Ölçeklendirme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 stratified + StandardScaler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920240" cy="2011680"/>
          </a:xfrm>
          <a:prstGeom prst="rect">
            <a:avLst/>
          </a:prstGeom>
          <a:solidFill>
            <a:srgbClr val="162032"/>
          </a:solidFill>
          <a:ln w="1270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Veri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084832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19,020 gözlem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özellik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77440" y="2148840"/>
            <a:ext cx="228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2606040" y="1143000"/>
            <a:ext cx="1920240" cy="2011680"/>
          </a:xfrm>
          <a:prstGeom prst="rect">
            <a:avLst/>
          </a:prstGeom>
          <a:solidFill>
            <a:srgbClr val="162032"/>
          </a:solidFill>
          <a:ln w="12700">
            <a:solidFill>
              <a:srgbClr val="06D6A0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2606040" y="11887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06040" y="171907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06040" y="2084832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%80 Eğitim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%20 Test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(Oran korunur)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26280" y="2148840"/>
            <a:ext cx="228600" cy="0"/>
          </a:xfrm>
          <a:prstGeom prst="line">
            <a:avLst/>
          </a:prstGeom>
          <a:noFill/>
          <a:ln w="254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4754880" y="1143000"/>
            <a:ext cx="1920240" cy="2011680"/>
          </a:xfrm>
          <a:prstGeom prst="rect">
            <a:avLst/>
          </a:prstGeom>
          <a:solidFill>
            <a:srgbClr val="162032"/>
          </a:solidFill>
          <a:ln w="12700">
            <a:solidFill>
              <a:srgbClr val="FFB703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4754880" y="11887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54880" y="171907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Seti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2084832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15,216 gözlem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(Sınıf oranı korundu)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75120" y="2148840"/>
            <a:ext cx="228600" cy="0"/>
          </a:xfrm>
          <a:prstGeom prst="line">
            <a:avLst/>
          </a:prstGeom>
          <a:noFill/>
          <a:ln w="254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6903720" y="1143000"/>
            <a:ext cx="1920240" cy="2011680"/>
          </a:xfrm>
          <a:prstGeom prst="rect">
            <a:avLst/>
          </a:prstGeom>
          <a:solidFill>
            <a:srgbClr val="162032"/>
          </a:solidFill>
          <a:ln w="12700">
            <a:solidFill>
              <a:srgbClr val="EF233C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6903720" y="11887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903720" y="171907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03720" y="2084832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3,804 gözlem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(Hiç dokunulmaz!)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337560"/>
            <a:ext cx="4114800" cy="1828800"/>
          </a:xfrm>
          <a:prstGeom prst="rect">
            <a:avLst/>
          </a:prstGeom>
          <a:solidFill>
            <a:srgbClr val="162032"/>
          </a:solidFill>
          <a:ln w="1270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411480" y="34015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 StandardScaler — Ölçeklendirme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1480" y="3767328"/>
            <a:ext cx="38862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Kimler için: </a:t>
            </a:r>
            <a:r>
              <a:rPr lang="en-US" sz="10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k-NN ve YSA gibi uzaklık/gradyan hesaplamalarına duyarlı modeller
</a:t>
            </a:r>
            <a:r>
              <a:rPr lang="en-US" sz="1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Nasıl: </a:t>
            </a:r>
            <a:r>
              <a:rPr lang="en-US" sz="10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Yalnızca eğitim setine </a:t>
            </a: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</a:t>
            </a:r>
            <a:r>
              <a:rPr lang="en-US" sz="10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edildi, test setine sadece </a:t>
            </a: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r>
              <a:rPr lang="en-US" sz="10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uygulandı
</a:t>
            </a:r>
            <a:r>
              <a:rPr lang="en-US" sz="1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Neden önemli: </a:t>
            </a:r>
            <a:r>
              <a:rPr lang="en-US" sz="10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verisinin eğitim sürecini etkilemesi (data leakage) bu şekilde önlendi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3337560"/>
            <a:ext cx="4389120" cy="1828800"/>
          </a:xfrm>
          <a:prstGeom prst="rect">
            <a:avLst/>
          </a:prstGeom>
          <a:solidFill>
            <a:srgbClr val="162032"/>
          </a:solidFill>
          <a:ln w="12700">
            <a:solidFill>
              <a:srgbClr val="06D6A0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4709160" y="340156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Neden Stratified Split?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09160" y="3767328"/>
            <a:ext cx="41605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setinde 1,84:1 oranında sınıf dengesizliği var.
</a:t>
            </a: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Stratify=y parametresi </a:t>
            </a:r>
            <a:r>
              <a:rPr lang="en-US" sz="10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sayesinde hem eğitim hem test setinde bu oran korunur.
</a:t>
            </a: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Eğitim: </a:t>
            </a:r>
            <a:r>
              <a:rPr lang="en-US" sz="10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~9,865 Gama + ~5,351 Hadron
</a:t>
            </a: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Test: </a:t>
            </a:r>
            <a:r>
              <a:rPr lang="en-US" sz="10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~2,466 Gama + ~1,338 Hadron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412480" y="491947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</a:t>
            </a:r>
            <a:r>
              <a:rPr lang="tr-TR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2438"/>
          </a:solidFill>
          <a:ln w="12700">
            <a:solidFill>
              <a:srgbClr val="14243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365760" y="1828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 Kullanılan Makine Öğrenmesi Algoritmaları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Gözetimli + Gözetimsiz Öğrenme Algoritmaları Genel Bakış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2743200" cy="1078992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384048" y="138988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Lojistik Regresyon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" y="1764792"/>
            <a:ext cx="594360" cy="20116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384048" y="1764792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Gözetimli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24128" y="175564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Referans model, sigmoid çıkışı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4048" y="2039112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Stratified CV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18688" y="1325880"/>
            <a:ext cx="2743200" cy="1078992"/>
          </a:xfrm>
          <a:prstGeom prst="rect">
            <a:avLst/>
          </a:prstGeom>
          <a:solidFill>
            <a:srgbClr val="0D1B2A"/>
          </a:solidFill>
          <a:ln w="12700">
            <a:solidFill>
              <a:srgbClr val="06D6A0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3328416" y="138988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k-En Yakın Komşu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28416" y="1764792"/>
            <a:ext cx="594360" cy="20116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3328416" y="1764792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Gözetimli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968496" y="175564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k=1→20 CV optimizasyonu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28416" y="2039112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Stratified CV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163056" y="1325880"/>
            <a:ext cx="2743200" cy="1078992"/>
          </a:xfrm>
          <a:prstGeom prst="rect">
            <a:avLst/>
          </a:prstGeom>
          <a:solidFill>
            <a:srgbClr val="0D1B2A"/>
          </a:solidFill>
          <a:ln w="12700">
            <a:solidFill>
              <a:srgbClr val="FFB703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6272784" y="138988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 Karar Ağacı (Gini)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72784" y="1764792"/>
            <a:ext cx="594360" cy="20116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6272784" y="1764792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Gözetimli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912864" y="175564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Özyinelemeli bölümleme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72784" y="2039112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Stratified CV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" y="2514600"/>
            <a:ext cx="2743200" cy="1078992"/>
          </a:xfrm>
          <a:prstGeom prst="rect">
            <a:avLst/>
          </a:prstGeom>
          <a:solidFill>
            <a:srgbClr val="0D1B2A"/>
          </a:solidFill>
          <a:ln w="12700">
            <a:solidFill>
              <a:srgbClr val="FFB703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384048" y="257860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 Karar Ağacı (Entropi)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84048" y="2953512"/>
            <a:ext cx="594360" cy="20116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384048" y="2953512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Gözetimli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024128" y="294436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Bilgi kazanımı kriteri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84048" y="3227832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Stratified CV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18688" y="2514600"/>
            <a:ext cx="2743200" cy="1078992"/>
          </a:xfrm>
          <a:prstGeom prst="rect">
            <a:avLst/>
          </a:prstGeom>
          <a:solidFill>
            <a:srgbClr val="0D1B2A"/>
          </a:solidFill>
          <a:ln w="12700">
            <a:solidFill>
              <a:srgbClr val="06D6A0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3328416" y="257860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🌲 Rastgele Orman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328416" y="2953512"/>
            <a:ext cx="594360" cy="20116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3328416" y="2953512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Gözetimli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968496" y="294436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Ensemble: 100 ağaç, bootstrap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328416" y="3227832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Stratified CV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163056" y="2514600"/>
            <a:ext cx="2743200" cy="1078992"/>
          </a:xfrm>
          <a:prstGeom prst="rect">
            <a:avLst/>
          </a:prstGeom>
          <a:solidFill>
            <a:srgbClr val="0D1B2A"/>
          </a:solidFill>
          <a:ln w="12700">
            <a:solidFill>
              <a:srgbClr val="8ECAE6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9" name="Text 37"/>
          <p:cNvSpPr/>
          <p:nvPr/>
        </p:nvSpPr>
        <p:spPr>
          <a:xfrm>
            <a:off x="6272784" y="257860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Gaussian Naive Bayes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72784" y="2953512"/>
            <a:ext cx="594360" cy="20116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Text 39"/>
          <p:cNvSpPr/>
          <p:nvPr/>
        </p:nvSpPr>
        <p:spPr>
          <a:xfrm>
            <a:off x="6272784" y="2953512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Gözetimli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912864" y="294436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Olasılıksal, bağımsızlık varsayımı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272784" y="3227832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Stratified CV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74320" y="3703320"/>
            <a:ext cx="2743200" cy="1078992"/>
          </a:xfrm>
          <a:prstGeom prst="rect">
            <a:avLst/>
          </a:prstGeom>
          <a:solidFill>
            <a:srgbClr val="0D1B2A"/>
          </a:solidFill>
          <a:ln w="12700">
            <a:solidFill>
              <a:srgbClr val="7B2FBE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5" name="Text 43"/>
          <p:cNvSpPr/>
          <p:nvPr/>
        </p:nvSpPr>
        <p:spPr>
          <a:xfrm>
            <a:off x="384048" y="376732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Yapay Sinir Ağı (YSA)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84048" y="4142232"/>
            <a:ext cx="594360" cy="20116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7" name="Text 45"/>
          <p:cNvSpPr/>
          <p:nvPr/>
        </p:nvSpPr>
        <p:spPr>
          <a:xfrm>
            <a:off x="384048" y="4142232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Gözetimli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1024128" y="413308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TF/Keras, Dropout+Early Stop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84048" y="4416552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Stratified CV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218688" y="3703320"/>
            <a:ext cx="2743200" cy="1078992"/>
          </a:xfrm>
          <a:prstGeom prst="rect">
            <a:avLst/>
          </a:prstGeom>
          <a:solidFill>
            <a:srgbClr val="0D1B2A"/>
          </a:solidFill>
          <a:ln w="12700">
            <a:solidFill>
              <a:srgbClr val="6B9EC0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1" name="Text 49"/>
          <p:cNvSpPr/>
          <p:nvPr/>
        </p:nvSpPr>
        <p:spPr>
          <a:xfrm>
            <a:off x="3328416" y="376732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K-Means Kümeleme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328416" y="4142232"/>
            <a:ext cx="594360" cy="201168"/>
          </a:xfrm>
          <a:prstGeom prst="rect">
            <a:avLst/>
          </a:prstGeom>
          <a:solidFill>
            <a:srgbClr val="6B9EC0"/>
          </a:solidFill>
          <a:ln w="12700">
            <a:solidFill>
              <a:srgbClr val="6B9EC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3" name="Text 51"/>
          <p:cNvSpPr/>
          <p:nvPr/>
        </p:nvSpPr>
        <p:spPr>
          <a:xfrm>
            <a:off x="3328416" y="4142232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Gözetimsiz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3968496" y="413308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Method, k belirleme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328416" y="4416552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Stratified CV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163056" y="3703320"/>
            <a:ext cx="2743200" cy="1078992"/>
          </a:xfrm>
          <a:prstGeom prst="rect">
            <a:avLst/>
          </a:prstGeom>
          <a:solidFill>
            <a:srgbClr val="0D1B2A"/>
          </a:solidFill>
          <a:ln w="12700">
            <a:solidFill>
              <a:srgbClr val="6B9EC0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7" name="Text 55"/>
          <p:cNvSpPr/>
          <p:nvPr/>
        </p:nvSpPr>
        <p:spPr>
          <a:xfrm>
            <a:off x="6272784" y="376732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Hiyerarşik Kümeleme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272784" y="4142232"/>
            <a:ext cx="594360" cy="201168"/>
          </a:xfrm>
          <a:prstGeom prst="rect">
            <a:avLst/>
          </a:prstGeom>
          <a:solidFill>
            <a:srgbClr val="6B9EC0"/>
          </a:solidFill>
          <a:ln w="12700">
            <a:solidFill>
              <a:srgbClr val="6B9EC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9" name="Text 57"/>
          <p:cNvSpPr/>
          <p:nvPr/>
        </p:nvSpPr>
        <p:spPr>
          <a:xfrm>
            <a:off x="6272784" y="4142232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Gözetimsiz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6912864" y="413308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bağlantı, dendrogram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272784" y="4416552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Stratified CV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8412480" y="491947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</a:t>
            </a:r>
            <a:r>
              <a:rPr lang="tr-TR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2438"/>
          </a:solidFill>
          <a:ln w="12700">
            <a:solidFill>
              <a:srgbClr val="14243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365760" y="1828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 1  —  Lojistik Regresyon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İkili sınıflandırma için temel referans model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297680" cy="4041648"/>
          </a:xfrm>
          <a:prstGeom prst="rect">
            <a:avLst/>
          </a:prstGeom>
          <a:solidFill>
            <a:srgbClr val="162032"/>
          </a:solidFill>
          <a:ln w="1270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411480" y="116128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Nasıl Çalışır?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402336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Giriş değişkenlerinin doğrusal kombinasyonunu </a:t>
            </a: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fonksiyonuna </a:t>
            </a:r>
            <a:r>
              <a:rPr lang="en-US" sz="11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geçirir.
• Sigmoid çıktısı 0 ile 1 arasında bir olasılık üretir:
</a:t>
            </a:r>
            <a:r>
              <a:rPr lang="en-US" sz="11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σ(z) = 1 / (1 + e⁻ᶻ)
</a:t>
            </a:r>
            <a:r>
              <a:rPr lang="en-US" sz="11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Eşik değeri (0.5) ile sınıf ataması yapılır.
</a:t>
            </a: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Neden Lojistik Regresyon seçildi?
</a:t>
            </a:r>
            <a:r>
              <a:rPr lang="en-US" sz="11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Hedef değişken (Gama/Hadron) kategorik → Lineer Regresyon uygunsuz. Yorumlanabilirliği yüksek, hesaplama maliyeti düşük referans model olarak tercih edildi.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160520" cy="4041648"/>
          </a:xfrm>
          <a:prstGeom prst="rect">
            <a:avLst/>
          </a:prstGeom>
          <a:solidFill>
            <a:srgbClr val="162032"/>
          </a:solidFill>
          <a:ln w="12700">
            <a:solidFill>
              <a:srgbClr val="1E3550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4892040" y="1161288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Model Parametreleri &amp; Sonuç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92040" y="1618488"/>
            <a:ext cx="3886200" cy="329184"/>
          </a:xfrm>
          <a:prstGeom prst="rect">
            <a:avLst/>
          </a:prstGeom>
          <a:solidFill>
            <a:srgbClr val="1C2B3F"/>
          </a:solidFill>
          <a:ln w="12700">
            <a:solidFill>
              <a:srgbClr val="1E35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4956048" y="161848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784848" y="161848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lbfgs (default)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92040" y="1965960"/>
            <a:ext cx="3886200" cy="329184"/>
          </a:xfrm>
          <a:prstGeom prst="rect">
            <a:avLst/>
          </a:prstGeom>
          <a:solidFill>
            <a:srgbClr val="162032"/>
          </a:solidFill>
          <a:ln w="12700">
            <a:solidFill>
              <a:srgbClr val="1E35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4956048" y="196596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Çapraz Doğrulama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784848" y="196596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Stratified CV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92040" y="2313432"/>
            <a:ext cx="3886200" cy="329184"/>
          </a:xfrm>
          <a:prstGeom prst="rect">
            <a:avLst/>
          </a:prstGeom>
          <a:solidFill>
            <a:srgbClr val="1C2B3F"/>
          </a:solidFill>
          <a:ln w="12700">
            <a:solidFill>
              <a:srgbClr val="1E35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4956048" y="231343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Pipeline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84848" y="2313432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Evet (veri sızıntısı önlendi)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92040" y="2660904"/>
            <a:ext cx="3886200" cy="329184"/>
          </a:xfrm>
          <a:prstGeom prst="rect">
            <a:avLst/>
          </a:prstGeom>
          <a:solidFill>
            <a:srgbClr val="162032"/>
          </a:solidFill>
          <a:ln w="12700">
            <a:solidFill>
              <a:srgbClr val="1E35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4956048" y="266090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Doğruluk Ort.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84848" y="266090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79.34%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92040" y="3008376"/>
            <a:ext cx="3886200" cy="329184"/>
          </a:xfrm>
          <a:prstGeom prst="rect">
            <a:avLst/>
          </a:prstGeom>
          <a:solidFill>
            <a:srgbClr val="1C2B3F"/>
          </a:solidFill>
          <a:ln w="12700">
            <a:solidFill>
              <a:srgbClr val="1E35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4956048" y="300837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Std. Sapma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784848" y="300837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 0.0060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92040" y="3355848"/>
            <a:ext cx="3886200" cy="329184"/>
          </a:xfrm>
          <a:prstGeom prst="rect">
            <a:avLst/>
          </a:prstGeom>
          <a:solidFill>
            <a:srgbClr val="162032"/>
          </a:solidFill>
          <a:ln w="12700">
            <a:solidFill>
              <a:srgbClr val="1E35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4956048" y="335584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Doğruluğu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84848" y="335584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78.36%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92040" y="3703320"/>
            <a:ext cx="3886200" cy="329184"/>
          </a:xfrm>
          <a:prstGeom prst="rect">
            <a:avLst/>
          </a:prstGeom>
          <a:solidFill>
            <a:srgbClr val="1C2B3F"/>
          </a:solidFill>
          <a:ln w="12700">
            <a:solidFill>
              <a:srgbClr val="1E35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4956048" y="370332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Hassasiyet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84848" y="370332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0.7929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92040" y="4050792"/>
            <a:ext cx="3886200" cy="329184"/>
          </a:xfrm>
          <a:prstGeom prst="rect">
            <a:avLst/>
          </a:prstGeom>
          <a:solidFill>
            <a:srgbClr val="162032"/>
          </a:solidFill>
          <a:ln w="12700">
            <a:solidFill>
              <a:srgbClr val="1E35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4956048" y="405079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Duyarlılık (Recall)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784848" y="4050792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0.9019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92040" y="4398264"/>
            <a:ext cx="3886200" cy="329184"/>
          </a:xfrm>
          <a:prstGeom prst="rect">
            <a:avLst/>
          </a:prstGeom>
          <a:solidFill>
            <a:srgbClr val="1C2B3F"/>
          </a:solidFill>
          <a:ln w="12700">
            <a:solidFill>
              <a:srgbClr val="1E35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4956048" y="439826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F1-Skoru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784848" y="439826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0.8439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92040" y="4745736"/>
            <a:ext cx="3886200" cy="329184"/>
          </a:xfrm>
          <a:prstGeom prst="rect">
            <a:avLst/>
          </a:prstGeom>
          <a:solidFill>
            <a:srgbClr val="162032"/>
          </a:solidFill>
          <a:ln w="12700">
            <a:solidFill>
              <a:srgbClr val="1E35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 37"/>
          <p:cNvSpPr/>
          <p:nvPr/>
        </p:nvSpPr>
        <p:spPr>
          <a:xfrm>
            <a:off x="4956048" y="474573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784848" y="474573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0.8313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412480" y="491947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</a:t>
            </a:r>
            <a:r>
              <a:rPr lang="tr-TR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2438"/>
          </a:solidFill>
          <a:ln w="12700">
            <a:solidFill>
              <a:srgbClr val="14243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365760" y="1828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 2  —  k-En Yakın Komşu (k-NN)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Uzaklık tabanlı sınıflandırma + k optimizasyonu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14800" cy="4041648"/>
          </a:xfrm>
          <a:prstGeom prst="rect">
            <a:avLst/>
          </a:prstGeom>
          <a:solidFill>
            <a:srgbClr val="0D1B2A"/>
          </a:solidFill>
          <a:ln w="12700">
            <a:solidFill>
              <a:srgbClr val="06D6A0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411480" y="116128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k-NN Nasıl Çalışır?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384048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bir gözlemi sınıflandırmak için eğitim setindeki en yakın </a:t>
            </a: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komşusunun </a:t>
            </a:r>
            <a:r>
              <a:rPr lang="en-US" sz="10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çoğunluk sınıfını kullanır.
</a:t>
            </a:r>
            <a:r>
              <a:rPr lang="en-US" sz="10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Çalışmada k Optimizasyonu:
</a:t>
            </a:r>
            <a:r>
              <a:rPr lang="en-US" sz="10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k=1'den 20'ye her kombinasyon
• Her k için 5-fold CV uygulandı
• En yüksek ortalama doğruluk: k≈12
</a:t>
            </a:r>
            <a:r>
              <a:rPr lang="en-US" sz="1050" b="1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k=1 neden yüksek ama güvenilmez?
</a:t>
            </a:r>
            <a:r>
              <a:rPr lang="en-US" sz="10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komşu gürültüye aşırı duyarlı (overfitting).
</a:t>
            </a:r>
            <a:r>
              <a:rPr lang="en-US" sz="10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k=2 neden düşer?
</a:t>
            </a:r>
            <a:r>
              <a:rPr lang="en-US" sz="10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Çift sayı beraberlik (tie) yaratabiliyor → kararsızlık. scikit-learn bunu kendi içinde çözüyor.</a:t>
            </a:r>
            <a:endParaRPr lang="en-US" sz="1050" dirty="0"/>
          </a:p>
        </p:txBody>
      </p:sp>
      <p:graphicFrame>
        <p:nvGraphicFramePr>
          <p:cNvPr id="9" name="Chart 0"/>
          <p:cNvGraphicFramePr/>
          <p:nvPr>
            <p:extLst>
              <p:ext uri="{D42A27DB-BD31-4B8C-83A1-F6EECF244321}">
                <p14:modId xmlns:p14="http://schemas.microsoft.com/office/powerpoint/2010/main" val="2511693576"/>
              </p:ext>
            </p:extLst>
          </p:nvPr>
        </p:nvGraphicFramePr>
        <p:xfrm>
          <a:off x="4572000" y="1097280"/>
          <a:ext cx="43434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4572000" y="4160520"/>
            <a:ext cx="4343400" cy="1005840"/>
          </a:xfrm>
          <a:prstGeom prst="rect">
            <a:avLst/>
          </a:prstGeom>
          <a:solidFill>
            <a:srgbClr val="162032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/>
          <p:nvPr/>
        </p:nvSpPr>
        <p:spPr>
          <a:xfrm>
            <a:off x="4681728" y="42245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Doğruluk (Ort.)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967728" y="4224528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84.06%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681728" y="440740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Std. Sapma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967728" y="4407408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 0.0022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681728" y="459028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Doğruluğu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967728" y="4590288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84.20%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681728" y="477316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F1-Skoru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967728" y="4773168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0.8856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681728" y="495604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967728" y="4956048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0.8951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412480" y="491947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</a:t>
            </a:r>
            <a:r>
              <a:rPr lang="tr-TR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2438"/>
          </a:solidFill>
          <a:ln w="12700">
            <a:solidFill>
              <a:srgbClr val="14243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365760" y="1828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 3  —  Karar Ağacı (Gini &amp; Entropi)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Özyinelemeli bölümleme — iki kriter karşılaştırması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03336"/>
            <a:ext cx="4114800" cy="4041648"/>
          </a:xfrm>
          <a:prstGeom prst="rect">
            <a:avLst/>
          </a:prstGeom>
          <a:solidFill>
            <a:srgbClr val="162032"/>
          </a:solidFill>
          <a:ln w="12700">
            <a:solidFill>
              <a:srgbClr val="FFB703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411480" y="116128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  Karar Ağacı Nasıl Çalışır?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384048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Veriyi özyinelemeli bölümlere ayırarak sınıflandırma kuralları üretir.
Bu çalışmada iki farklı dallanma kriteri test edildi:
</a:t>
            </a:r>
            <a:r>
              <a:rPr lang="en-US" sz="10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🔸 Gini Safsızlık İndeksi:
</a:t>
            </a:r>
            <a:r>
              <a:rPr lang="en-US" sz="1050" dirty="0">
                <a:solidFill>
                  <a:srgbClr val="D0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Gini = 1 − Σ pᵢ²
   Hesaplama açısından verimli
</a:t>
            </a: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Entropi (Bilgi Kazanımı):
</a:t>
            </a:r>
            <a:r>
              <a:rPr lang="en-US" sz="1050" dirty="0">
                <a:solidFill>
                  <a:srgbClr val="D0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H = −Σ pᵢ log₂(pᵢ)
   Bilgi teorisine dayanır
</a:t>
            </a: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Literatür karşılaştırması:
</a:t>
            </a:r>
            <a:r>
              <a:rPr lang="en-US" sz="105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Bhandari &amp; Adhikari (2024): Derinlik 9'da %82 doğruluk, derinlik 17'de overfitting görülmüş.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0" y="1097280"/>
            <a:ext cx="4343400" cy="4041648"/>
          </a:xfrm>
          <a:prstGeom prst="rect">
            <a:avLst/>
          </a:prstGeom>
          <a:solidFill>
            <a:srgbClr val="162032"/>
          </a:solidFill>
          <a:ln w="12700">
            <a:solidFill>
              <a:srgbClr val="1E3550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4681728" y="116128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Gini vs Entropi — Karşılaştırma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019401"/>
              </p:ext>
            </p:extLst>
          </p:nvPr>
        </p:nvGraphicFramePr>
        <p:xfrm>
          <a:off x="4681728" y="1600200"/>
          <a:ext cx="4114800" cy="32918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Gini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Entropi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Doğruluk (Ort.)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81.05%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81.93%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Std. Sapma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0.0080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0.0075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Doğruluğu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81.34%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81.60%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Hassasiyet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Duyarlılık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F1-Skoru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0.8559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0.7959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ECA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SONUÇ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Biraz daha düşük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tr-TR" sz="10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Biraz daha yüksek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8412480" y="491947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</a:t>
            </a:r>
            <a:r>
              <a:rPr lang="tr-TR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2438"/>
          </a:solidFill>
          <a:ln w="12700">
            <a:solidFill>
              <a:srgbClr val="14243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365760" y="1828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 4  —  Rastgele Orman (Random Forest)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yöntemi — 100 karar ağacının toplu kararı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03336"/>
            <a:ext cx="8595360" cy="4041648"/>
          </a:xfrm>
          <a:prstGeom prst="rect">
            <a:avLst/>
          </a:prstGeom>
          <a:solidFill>
            <a:srgbClr val="0D1B2A"/>
          </a:solidFill>
          <a:ln w="12700">
            <a:solidFill>
              <a:srgbClr val="06D6A0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2606040" cy="2011680"/>
          </a:xfrm>
          <a:prstGeom prst="rect">
            <a:avLst/>
          </a:prstGeom>
          <a:solidFill>
            <a:srgbClr val="1C2B3F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457200" y="1261872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Örnekleme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212848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ağaç için veriden farklı bir örnek (yerine koyma ile) çekilir. Veri çeşitliliği artar.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10128" y="1234440"/>
            <a:ext cx="2606040" cy="2011680"/>
          </a:xfrm>
          <a:prstGeom prst="rect">
            <a:avLst/>
          </a:prstGeom>
          <a:solidFill>
            <a:srgbClr val="1C2B3F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3310128" y="1261872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10128" y="182880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Bağımsız Ağaçlar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10128" y="2212848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karar ağacı birbirinden bağımsız eğitilir. Her ağaç rastgele özellik alt kümesi kullanır.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63056" y="1234440"/>
            <a:ext cx="2606040" cy="2011680"/>
          </a:xfrm>
          <a:prstGeom prst="rect">
            <a:avLst/>
          </a:prstGeom>
          <a:solidFill>
            <a:srgbClr val="1C2B3F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6163056" y="1261872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🗳️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163056" y="182880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Çoğunluk Oylaması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63056" y="2212848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zamanı 100 ağacın tahmini birleştirilir. En fazla oy alan sınıf (Gama/Hadron) kazanır.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063240" y="2240280"/>
            <a:ext cx="246888" cy="0"/>
          </a:xfrm>
          <a:prstGeom prst="line">
            <a:avLst/>
          </a:prstGeom>
          <a:noFill/>
          <a:ln w="254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5916168" y="2240280"/>
            <a:ext cx="246888" cy="0"/>
          </a:xfrm>
          <a:prstGeom prst="line">
            <a:avLst/>
          </a:prstGeom>
          <a:noFill/>
          <a:ln w="254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Neden Sınıflandırma Yarışmasının Lideri?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376732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Tek ağaca göre aşırı öğrenmeye (overfitting) karşı daha dirençli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417880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100 ağaçla başlandı; hiperparametre optimizasyonu bu modelde yoğunlaştırıldı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46320" y="376732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Özellik önemi hesaplanabiliyor → fAlpha birinci sırada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46320" y="417880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Literatürde de MAGIC verisi için standart yöntem (Ohtani &amp; MAGIC Collab., 2021)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412480" y="491947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</a:t>
            </a:r>
            <a:r>
              <a:rPr lang="tr-TR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2438"/>
          </a:solidFill>
          <a:ln w="12700">
            <a:solidFill>
              <a:srgbClr val="14243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365760" y="1828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 5  —  Gaussian Naive Bayes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Olasılıksal sınıflandırıcı — bağımsızlık varsayımı ve kısıtları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572000" cy="4041648"/>
          </a:xfrm>
          <a:prstGeom prst="rect">
            <a:avLst/>
          </a:prstGeom>
          <a:solidFill>
            <a:srgbClr val="162032"/>
          </a:solidFill>
          <a:ln w="12700">
            <a:solidFill>
              <a:srgbClr val="8ECAE6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411480" y="116128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Nasıl Çalışır?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429768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 teoremini temel alan olasılıksal bir sınıflandırıcı:
</a:t>
            </a:r>
            <a:r>
              <a:rPr lang="en-US" sz="105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P(C|X) ∝ P(X|C) × P(C)
</a:t>
            </a:r>
            <a:r>
              <a:rPr lang="en-US" sz="10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NB: </a:t>
            </a:r>
            <a:r>
              <a:rPr lang="en-US" sz="10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Değişkenlerin her sınıf içinde normal (Gauss) dağılım izlediğini varsayar.
</a:t>
            </a:r>
            <a:r>
              <a:rPr lang="en-US" sz="10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Temel Varsayım:
</a:t>
            </a:r>
            <a:r>
              <a:rPr lang="en-US" sz="10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özellikler birbirinden bağımsızdır.
</a:t>
            </a: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Avantajlar:
</a:t>
            </a:r>
            <a:r>
              <a:rPr lang="en-US" sz="10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Hesaplama hızı en yüksek algoritmalar arasında
• Küçük veri setlerinde bile stabil
</a:t>
            </a:r>
            <a:r>
              <a:rPr lang="en-US" sz="1050" b="1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Bu Veri Setindeki Kısıtı:
</a:t>
            </a:r>
            <a:r>
              <a:rPr lang="en-US" sz="10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fConc — fConc1 korelasyonu 0.98! Bağımsızlık varsayımı doğrudan ihlal ediliyor → En düşük performans beklenti ile örtüştü.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0" y="1097280"/>
            <a:ext cx="3886200" cy="4041648"/>
          </a:xfrm>
          <a:prstGeom prst="rect">
            <a:avLst/>
          </a:prstGeom>
          <a:solidFill>
            <a:srgbClr val="162032"/>
          </a:solidFill>
          <a:ln w="12700">
            <a:solidFill>
              <a:srgbClr val="1E3550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5166360" y="1161288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Naive Bayes Sonuçları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166360" y="1627632"/>
            <a:ext cx="3657600" cy="365760"/>
          </a:xfrm>
          <a:prstGeom prst="rect">
            <a:avLst/>
          </a:prstGeom>
          <a:solidFill>
            <a:srgbClr val="1C2B3F"/>
          </a:solidFill>
          <a:ln w="12700">
            <a:solidFill>
              <a:srgbClr val="1E35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5230368" y="162763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Doğruluk (Ort.)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33488" y="162763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72.61%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66360" y="2029968"/>
            <a:ext cx="3657600" cy="36576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5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5230368" y="202996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Std. Sapma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33488" y="20299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 0.0078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166360" y="2432304"/>
            <a:ext cx="3657600" cy="365760"/>
          </a:xfrm>
          <a:prstGeom prst="rect">
            <a:avLst/>
          </a:prstGeom>
          <a:solidFill>
            <a:srgbClr val="1C2B3F"/>
          </a:solidFill>
          <a:ln w="12700">
            <a:solidFill>
              <a:srgbClr val="1E35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5230368" y="243230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Doğruluğu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33488" y="243230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72.98%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166360" y="2834640"/>
            <a:ext cx="3657600" cy="36576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5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5230368" y="28346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Hassasiyet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33488" y="2834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0.7339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166360" y="3236976"/>
            <a:ext cx="3657600" cy="365760"/>
          </a:xfrm>
          <a:prstGeom prst="rect">
            <a:avLst/>
          </a:prstGeom>
          <a:solidFill>
            <a:srgbClr val="1C2B3F"/>
          </a:solidFill>
          <a:ln w="12700">
            <a:solidFill>
              <a:srgbClr val="1E35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5230368" y="323697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Duyarlılık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33488" y="323697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0.9148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166360" y="3639312"/>
            <a:ext cx="3657600" cy="36576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5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5230368" y="363931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F1-Skoru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33488" y="363931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0.8144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166360" y="4041648"/>
            <a:ext cx="3657600" cy="365760"/>
          </a:xfrm>
          <a:prstGeom prst="rect">
            <a:avLst/>
          </a:prstGeom>
          <a:solidFill>
            <a:srgbClr val="1C2B3F"/>
          </a:solidFill>
          <a:ln w="12700">
            <a:solidFill>
              <a:srgbClr val="1E35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5230368" y="404164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33488" y="404164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0.7488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29200" y="4453128"/>
            <a:ext cx="3886200" cy="685800"/>
          </a:xfrm>
          <a:prstGeom prst="rect">
            <a:avLst/>
          </a:prstGeom>
          <a:solidFill>
            <a:srgbClr val="1A0000"/>
          </a:solidFill>
          <a:ln w="12700">
            <a:solidFill>
              <a:srgbClr val="EF233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5138928" y="4489704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Literatür Doğrulaması: Acevedo (2023) da aynı veri setinde Naive Bayes ile yalnızca %71 doğruluk rapor etmiştir. Projemizin %72.98 sonucu bununla örtüşmektedir.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412480" y="491947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</a:t>
            </a:r>
            <a:r>
              <a:rPr lang="tr-TR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2438"/>
          </a:solidFill>
          <a:ln w="12700">
            <a:solidFill>
              <a:srgbClr val="14243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365760" y="1828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Sinir Ağı (YSA / ANN)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TensorFlow/Keras — Mimari, Eğitim ve Early Stopping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14800" cy="4041648"/>
          </a:xfrm>
          <a:prstGeom prst="rect">
            <a:avLst/>
          </a:prstGeom>
          <a:solidFill>
            <a:srgbClr val="0D1B2A"/>
          </a:solidFill>
          <a:ln w="12700">
            <a:solidFill>
              <a:srgbClr val="7B2FBE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411480" y="116128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YSA Mimarisi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" y="1627632"/>
            <a:ext cx="3703320" cy="420624"/>
          </a:xfrm>
          <a:prstGeom prst="rect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502920" y="1627632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 Katmanı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651760" y="1627632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nöron | ReLU aktivasyon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0" y="2048256"/>
            <a:ext cx="0" cy="82296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438912" y="2130552"/>
            <a:ext cx="3703320" cy="420624"/>
          </a:xfrm>
          <a:prstGeom prst="rect">
            <a:avLst/>
          </a:prstGeom>
          <a:solidFill>
            <a:srgbClr val="FFB703">
              <a:alpha val="25000"/>
            </a:srgbClr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502920" y="2130552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Katmanı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651760" y="2130552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%30 dropout oranı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0" y="2551176"/>
            <a:ext cx="0" cy="82296"/>
          </a:xfrm>
          <a:prstGeom prst="line">
            <a:avLst/>
          </a:prstGeom>
          <a:noFill/>
          <a:ln w="1905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438912" y="2633472"/>
            <a:ext cx="3703320" cy="420624"/>
          </a:xfrm>
          <a:prstGeom prst="rect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502920" y="2633472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Gizli Katman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651760" y="2633472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nöron | ReLU aktivasyon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0" y="3054096"/>
            <a:ext cx="0" cy="82296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438912" y="3136392"/>
            <a:ext cx="3703320" cy="420624"/>
          </a:xfrm>
          <a:prstGeom prst="rect">
            <a:avLst/>
          </a:prstGeom>
          <a:solidFill>
            <a:srgbClr val="FFB703">
              <a:alpha val="25000"/>
            </a:srgbClr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502920" y="3136392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Katmanı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651760" y="3136392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%30 dropout oranı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0" y="3557016"/>
            <a:ext cx="0" cy="82296"/>
          </a:xfrm>
          <a:prstGeom prst="line">
            <a:avLst/>
          </a:prstGeom>
          <a:noFill/>
          <a:ln w="1905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Shape 22"/>
          <p:cNvSpPr/>
          <p:nvPr/>
        </p:nvSpPr>
        <p:spPr>
          <a:xfrm>
            <a:off x="438912" y="3639312"/>
            <a:ext cx="3703320" cy="420624"/>
          </a:xfrm>
          <a:prstGeom prst="rect">
            <a:avLst/>
          </a:prstGeom>
          <a:solidFill>
            <a:srgbClr val="06D6A0">
              <a:alpha val="25000"/>
            </a:srgbClr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502920" y="3639312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Çıkış Katmanı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651760" y="3639312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nöron | Sigmoid aktivasyon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11480" y="425196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 </a:t>
            </a:r>
            <a:r>
              <a:rPr lang="en-US" sz="10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 |  </a:t>
            </a:r>
            <a:r>
              <a:rPr lang="en-US" sz="1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</a:t>
            </a:r>
            <a:r>
              <a:rPr lang="en-US" sz="10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CrossEntropy
</a:t>
            </a:r>
            <a:r>
              <a:rPr lang="en-US" sz="1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Epoch: </a:t>
            </a:r>
            <a:r>
              <a:rPr lang="en-US" sz="10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 |  </a:t>
            </a:r>
            <a:r>
              <a:rPr lang="en-US" sz="1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Batch: </a:t>
            </a:r>
            <a:r>
              <a:rPr lang="en-US" sz="10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
</a:t>
            </a: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SMOTE: </a:t>
            </a:r>
            <a:r>
              <a:rPr lang="en-US" sz="10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 eğitim alt kümesine uygulandı (Pipeline uyumsuzluğu nedeniyle alternatif yöntem)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1097280"/>
            <a:ext cx="4343400" cy="4041648"/>
          </a:xfrm>
          <a:prstGeom prst="rect">
            <a:avLst/>
          </a:prstGeom>
          <a:solidFill>
            <a:srgbClr val="162032"/>
          </a:solidFill>
          <a:ln w="12700">
            <a:solidFill>
              <a:srgbClr val="1E3550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4681728" y="116128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YSA Eğitim Süreci &amp; Sonuçlar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681728" y="3749040"/>
            <a:ext cx="4114800" cy="1371600"/>
          </a:xfrm>
          <a:prstGeom prst="rect">
            <a:avLst/>
          </a:prstGeom>
          <a:solidFill>
            <a:srgbClr val="1C2B3F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29"/>
          <p:cNvSpPr/>
          <p:nvPr/>
        </p:nvSpPr>
        <p:spPr>
          <a:xfrm>
            <a:off x="4773168" y="381304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6876288" y="381304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Epoch (val_loss izledi)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4773168" y="402336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Doğruluğu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6876288" y="40233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~%87.0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4773168" y="423367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6876288" y="423367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0.9231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4773168" y="4443984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 Hadron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6876288" y="444398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1,044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4773168" y="465429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 Gama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6876288" y="465429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2,248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4773168" y="486460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6876288" y="486460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YOK (eğriler yakın)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8412480" y="491947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tr-TR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r>
              <a:rPr lang="en-US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3</a:t>
            </a:r>
            <a:r>
              <a:rPr lang="tr-TR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pic>
        <p:nvPicPr>
          <p:cNvPr id="45" name="Resim 44">
            <a:extLst>
              <a:ext uri="{FF2B5EF4-FFF2-40B4-BE49-F238E27FC236}">
                <a16:creationId xmlns:a16="http://schemas.microsoft.com/office/drawing/2014/main" id="{6DF38E5F-F9D4-7A33-793B-037CB93E16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7300" y="1481656"/>
            <a:ext cx="3663655" cy="21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2438"/>
          </a:solidFill>
          <a:ln w="12700">
            <a:solidFill>
              <a:srgbClr val="14243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365760" y="1828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Gözetimsiz Öğrenme  —  K-Means &amp; Hiyerarşik Kümeleme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setinin gözetimsiz öğrenme için uygunluğunun test edilmesi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898830" cy="4041648"/>
          </a:xfrm>
          <a:prstGeom prst="rect">
            <a:avLst/>
          </a:prstGeom>
          <a:solidFill>
            <a:srgbClr val="162032"/>
          </a:solidFill>
          <a:ln w="12700">
            <a:solidFill>
              <a:srgbClr val="6B9EC0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411480" y="116128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K-Means Kümeleme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2592112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Optimum k belirleme: </a:t>
            </a:r>
            <a:r>
              <a:rPr lang="en-US" sz="10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Method (Dirsek Yöntemi)
→ k=1'den 10'a WCSS hesaplandı
</a:t>
            </a:r>
            <a:r>
              <a:rPr lang="en-US" sz="10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Bellek kısıtı: </a:t>
            </a:r>
            <a:r>
              <a:rPr lang="en-US" sz="10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setinin ilk 2,000 gözlemi kullanıldı
</a:t>
            </a: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Hiyerarşik Kümeleme: </a:t>
            </a:r>
            <a:r>
              <a:rPr lang="en-US" sz="10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bağlantı yöntemi + Dendrogram
→ En üst birleşme ≈ 105 Öklid uzaklığında
</a:t>
            </a:r>
            <a:r>
              <a:rPr lang="en-US" sz="10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(Düzeltilmiş Rand İndeksi):
</a:t>
            </a:r>
            <a:r>
              <a:rPr lang="en-US" sz="10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Kümeleme sonuçlarının gerçek sınıf etiketleriyle örtüşme oranını ölçer:
</a:t>
            </a: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= 1.0 </a:t>
            </a:r>
            <a:r>
              <a:rPr lang="en-US" sz="10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Mükemmel örtüşme
</a:t>
            </a:r>
            <a:r>
              <a:rPr lang="en-US" sz="1050" b="1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= 0.0 </a:t>
            </a:r>
            <a:r>
              <a:rPr lang="en-US" sz="10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Rastgele atama kadar
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548599" y="1097280"/>
            <a:ext cx="5366801" cy="4041648"/>
          </a:xfrm>
          <a:prstGeom prst="rect">
            <a:avLst/>
          </a:prstGeom>
          <a:solidFill>
            <a:srgbClr val="162032"/>
          </a:solidFill>
          <a:ln w="12700">
            <a:solidFill>
              <a:srgbClr val="EF233C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3656692" y="115384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Gözetimsiz Öğrenme Sonucu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39330" y="3557016"/>
            <a:ext cx="494444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K-Means kümeleri Gama/Hadron etiketleriyle neredeyse hiç örtüşmüyor
❌  Elbow grafiğinde belirgin bir dirsek noktası yok
</a:t>
            </a: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Bu bulgunun yorumu:
</a:t>
            </a:r>
            <a:r>
              <a:rPr lang="en-US" sz="10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Uzay teleskobu sinyalleri özellik uzayında iç içe geçmiş karmaşık bir yapıda dağılmış. Gözetimsiz öğrenme yetersiz → </a:t>
            </a:r>
            <a:r>
              <a:rPr lang="en-US" sz="10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Gözetimli öğrenme zorunluluğu deneysel olarak kanıtlandı!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412480" y="491947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tr-TR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r>
              <a:rPr lang="en-US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3</a:t>
            </a:r>
            <a:r>
              <a:rPr lang="tr-TR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pic>
        <p:nvPicPr>
          <p:cNvPr id="18" name="Resim 17">
            <a:extLst>
              <a:ext uri="{FF2B5EF4-FFF2-40B4-BE49-F238E27FC236}">
                <a16:creationId xmlns:a16="http://schemas.microsoft.com/office/drawing/2014/main" id="{9BEAAF81-6A72-210E-AA63-314058216CC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9330" y="1510665"/>
            <a:ext cx="5038910" cy="18562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2438"/>
          </a:solidFill>
          <a:ln w="12700">
            <a:solidFill>
              <a:srgbClr val="14243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365760" y="1828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Değerlendirme Metrikleri  —  ROC Eğrisi &amp; AUC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 dengesizliğinde doğru değerlendirme neden önemlidir?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1" y="1097280"/>
            <a:ext cx="4072412" cy="4011945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411480" y="116128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ROC Eğrisi Nedir?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402336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(Receiver Operating Characteristic) eğrisi, modelin:
</a:t>
            </a: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Duyarlılık (True Positive Rate)
</a:t>
            </a:r>
            <a:r>
              <a:rPr lang="en-US" sz="1050" b="1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Yanlış alarm oranı (False Positive Rate)
</a:t>
            </a:r>
            <a:r>
              <a:rPr lang="en-US" sz="10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...arasındaki dengeyi gösteren bir grafiktir.
</a:t>
            </a:r>
            <a:r>
              <a:rPr lang="en-US" sz="10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(Alan Altındaki Alan):
</a:t>
            </a: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1.0 </a:t>
            </a:r>
            <a:r>
              <a:rPr lang="en-US" sz="10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Mükemmel sınıflandırma
</a:t>
            </a:r>
            <a:r>
              <a:rPr lang="en-US" sz="1050" b="1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0.5 </a:t>
            </a:r>
            <a:r>
              <a:rPr lang="en-US" sz="10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Tamamen rastgele tahmin
</a:t>
            </a:r>
            <a:r>
              <a:rPr lang="en-US" sz="10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sadece doğruluk yetmez?
</a:t>
            </a:r>
            <a:r>
              <a:rPr lang="en-US" sz="10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 dengesizliği olan veri setlerinde, model sürekli çoğunluk sınıfını tahmin ederek yüksek doğruluk elde edebilir ama azınlık sınıfını tamamen kaçırır.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2" y="1104153"/>
            <a:ext cx="4297680" cy="400507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550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 dirty="0"/>
          </a:p>
        </p:txBody>
      </p:sp>
      <p:sp>
        <p:nvSpPr>
          <p:cNvPr id="10" name="Text 8"/>
          <p:cNvSpPr/>
          <p:nvPr/>
        </p:nvSpPr>
        <p:spPr>
          <a:xfrm>
            <a:off x="4892040" y="1161288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Tüm Modellerin ROC-AUC S</a:t>
            </a:r>
            <a:r>
              <a:rPr lang="tr-TR" sz="1200" b="1" dirty="0" err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onuçları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458200" y="492058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tr-TR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r>
              <a:rPr lang="en-US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3</a:t>
            </a:r>
            <a:r>
              <a:rPr lang="tr-TR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pic>
        <p:nvPicPr>
          <p:cNvPr id="39" name="Resim 38">
            <a:extLst>
              <a:ext uri="{FF2B5EF4-FFF2-40B4-BE49-F238E27FC236}">
                <a16:creationId xmlns:a16="http://schemas.microsoft.com/office/drawing/2014/main" id="{EE9C547D-ECE8-8C56-28CA-981DD9C20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7384" y="1572768"/>
            <a:ext cx="4101235" cy="338785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2438"/>
          </a:solidFill>
          <a:ln w="12700">
            <a:solidFill>
              <a:srgbClr val="14243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365760" y="1828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Özgün Değer 1  —  SMOTE ile Sınıf Dengesizliğinin Giderilmesi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mimarisine entegrasyon ve veri sızıntısı önleme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572000" cy="4041648"/>
          </a:xfrm>
          <a:prstGeom prst="rect">
            <a:avLst/>
          </a:prstGeom>
          <a:solidFill>
            <a:srgbClr val="162032"/>
          </a:solidFill>
          <a:ln w="12700">
            <a:solidFill>
              <a:srgbClr val="06D6A0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411480" y="116128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SMOTE Nedir?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429768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(Synthetic Minority Oversampling Technique)
</a:t>
            </a:r>
            <a:r>
              <a:rPr lang="en-US" sz="10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Azınlık sınıfına ait mevcut gözlemlerin </a:t>
            </a: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komşuları arasında doğrusal interpolasyon </a:t>
            </a:r>
            <a:r>
              <a:rPr lang="en-US" sz="10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yaparak yeni ve sentetik örnekler üretir.
</a:t>
            </a:r>
            <a:r>
              <a:rPr lang="en-US" sz="10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çalışmada etki:
</a:t>
            </a:r>
            <a:r>
              <a:rPr lang="en-US" sz="1050" b="1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SMOTE Öncesi: </a:t>
            </a:r>
            <a:r>
              <a:rPr lang="en-US" sz="10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~9,865 Gama + ~5,351 Hadron
</a:t>
            </a: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SMOTE Sonrası: </a:t>
            </a:r>
            <a:r>
              <a:rPr lang="en-US" sz="10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~9,865 Gama + ~9,865 Hadron 
</a:t>
            </a:r>
            <a:endParaRPr lang="tr-TR" sz="1050" dirty="0">
              <a:solidFill>
                <a:srgbClr val="D0EE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tr-TR" sz="1050" b="1" dirty="0">
              <a:solidFill>
                <a:srgbClr val="D0EE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Kritik Metodolojik Tercih:
</a:t>
            </a:r>
            <a:r>
              <a:rPr lang="en-US" sz="10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hiçbir zaman ham veriye doğrudan uygulanmadı. </a:t>
            </a: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imblearn Pipeline mimarisine entegre edildi. </a:t>
            </a:r>
            <a:r>
              <a:rPr lang="en-US" sz="10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Böylece her CV katında SMOTE yalnızca o kata ait eğitim verisine uygulandı → doğrulama/test setine sentetik veri sızmadı.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0" y="1097280"/>
            <a:ext cx="3886200" cy="4041648"/>
          </a:xfrm>
          <a:prstGeom prst="rect">
            <a:avLst/>
          </a:prstGeom>
          <a:solidFill>
            <a:srgbClr val="162032"/>
          </a:solidFill>
          <a:ln w="12700">
            <a:solidFill>
              <a:srgbClr val="1E3550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5138928" y="11612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SMOTE Öncesi / Sonrası Karşılaştırma</a:t>
            </a:r>
            <a:endParaRPr lang="en-US" sz="1200" dirty="0"/>
          </a:p>
        </p:txBody>
      </p:sp>
      <p:graphicFrame>
        <p:nvGraphicFramePr>
          <p:cNvPr id="11" name="Chart 0"/>
          <p:cNvGraphicFramePr/>
          <p:nvPr>
            <p:extLst>
              <p:ext uri="{D42A27DB-BD31-4B8C-83A1-F6EECF244321}">
                <p14:modId xmlns:p14="http://schemas.microsoft.com/office/powerpoint/2010/main" val="2293670530"/>
              </p:ext>
            </p:extLst>
          </p:nvPr>
        </p:nvGraphicFramePr>
        <p:xfrm>
          <a:off x="5138928" y="1572768"/>
          <a:ext cx="365760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hape 9"/>
          <p:cNvSpPr/>
          <p:nvPr/>
        </p:nvSpPr>
        <p:spPr>
          <a:xfrm>
            <a:off x="5138928" y="3730752"/>
            <a:ext cx="3611880" cy="1389888"/>
          </a:xfrm>
          <a:prstGeom prst="rect">
            <a:avLst/>
          </a:prstGeom>
          <a:solidFill>
            <a:srgbClr val="1C2B3F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0"/>
          <p:cNvSpPr/>
          <p:nvPr/>
        </p:nvSpPr>
        <p:spPr>
          <a:xfrm>
            <a:off x="5230368" y="376732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Bazında SMOTE Etkisi: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230368" y="4069080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Lojistik Reg.: Hadron recall ↑ belirgin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230368" y="4389120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k-NN: Hadron recall ↑ belirgin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230368" y="4709160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Rastgele Orman: Hadron recall ↑ marginal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8412480" y="491947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tr-TR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r>
              <a:rPr lang="en-US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3</a:t>
            </a:r>
            <a:r>
              <a:rPr lang="tr-TR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2438"/>
          </a:solidFill>
          <a:ln w="12700">
            <a:solidFill>
              <a:srgbClr val="14243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365760" y="1828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Özgün Değer 2  —  Rastgele Orman Hiperparametre Optimizasyonu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RandomizedSearchCV + Overfitting Kontrolü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3132548" cy="4041648"/>
          </a:xfrm>
          <a:prstGeom prst="rect">
            <a:avLst/>
          </a:prstGeom>
          <a:solidFill>
            <a:srgbClr val="0D1B2A"/>
          </a:solidFill>
          <a:ln w="12700">
            <a:solidFill>
              <a:srgbClr val="FFB703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411480" y="116128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Optimizasyon Süreci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2725033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Yöntem: </a:t>
            </a:r>
            <a:r>
              <a:rPr lang="en-US" sz="10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RandomizedSearchCV
</a:t>
            </a: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Arama Uzayı:
</a:t>
            </a:r>
            <a:r>
              <a:rPr lang="en-US" sz="10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n_estimators: {50, 100, 200}
• max_depth: {None, 10, 20, 30}
• min_samples_split: {2, 5, 10}
• criterion: {gini, entropy}
</a:t>
            </a:r>
            <a:r>
              <a:rPr lang="en-US" sz="105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farklı kombinasyon × 3-fold CV
</a:t>
            </a:r>
            <a:r>
              <a:rPr lang="en-US" sz="1050" b="1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Kritik Tasarım:
</a:t>
            </a:r>
            <a:r>
              <a:rPr lang="en-US" sz="10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RandomizedSearchCV'ye orijinal ölçeklendirilmiş veri </a:t>
            </a:r>
            <a:r>
              <a:rPr lang="en-US" sz="1050" dirty="0" err="1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verildi</a:t>
            </a:r>
            <a:r>
              <a:rPr lang="en-US" sz="10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tr-TR" sz="1050" dirty="0">
              <a:solidFill>
                <a:srgbClr val="D0EE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SMOTE Pipeline'ın kendi içinde gerçekleştirildi → veri sızıntısı riski sıfır.
</a:t>
            </a: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Kontrolü:
</a:t>
            </a:r>
            <a:r>
              <a:rPr lang="en-US" sz="10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Eğitim-test skoru farkı &lt; 0.05 → Overfitting yok 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713306" y="1110449"/>
            <a:ext cx="5215411" cy="4041648"/>
          </a:xfrm>
          <a:prstGeom prst="rect">
            <a:avLst/>
          </a:prstGeom>
          <a:solidFill>
            <a:srgbClr val="162032"/>
          </a:solidFill>
          <a:ln w="12700">
            <a:solidFill>
              <a:srgbClr val="1E3550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3699989" y="1156194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</a:t>
            </a:r>
            <a:r>
              <a:rPr lang="tr-TR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Rastgele Orman Sonuçları 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412480" y="491947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tr-TR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r>
              <a:rPr lang="en-US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3</a:t>
            </a:r>
            <a:r>
              <a:rPr lang="tr-TR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pic>
        <p:nvPicPr>
          <p:cNvPr id="11" name="Resim 10">
            <a:extLst>
              <a:ext uri="{FF2B5EF4-FFF2-40B4-BE49-F238E27FC236}">
                <a16:creationId xmlns:a16="http://schemas.microsoft.com/office/drawing/2014/main" id="{292C228D-7FCF-646B-8D19-0B5536B5F2B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1942" y="1517904"/>
            <a:ext cx="2473903" cy="2067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Resim 12">
            <a:extLst>
              <a:ext uri="{FF2B5EF4-FFF2-40B4-BE49-F238E27FC236}">
                <a16:creationId xmlns:a16="http://schemas.microsoft.com/office/drawing/2014/main" id="{448C023F-DAD1-9649-AE25-E64159DA815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5880" y="1480948"/>
            <a:ext cx="2440940" cy="213550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5">
            <p14:nvContentPartPr>
              <p14:cNvPr id="27" name="Mürekkep 26">
                <a:extLst>
                  <a:ext uri="{FF2B5EF4-FFF2-40B4-BE49-F238E27FC236}">
                    <a16:creationId xmlns:a16="http://schemas.microsoft.com/office/drawing/2014/main" id="{32F7A624-1F72-7DB3-7045-7B5AB1E57084}"/>
                  </a:ext>
                </a:extLst>
              </p14:cNvPr>
              <p14:cNvContentPartPr/>
              <p14:nvPr/>
            </p14:nvContentPartPr>
            <p14:xfrm>
              <a:off x="2216344" y="3796870"/>
              <a:ext cx="360" cy="360"/>
            </p14:xfrm>
          </p:contentPart>
        </mc:Choice>
        <mc:Fallback>
          <p:pic>
            <p:nvPicPr>
              <p:cNvPr id="27" name="Mürekkep 26">
                <a:extLst>
                  <a:ext uri="{FF2B5EF4-FFF2-40B4-BE49-F238E27FC236}">
                    <a16:creationId xmlns:a16="http://schemas.microsoft.com/office/drawing/2014/main" id="{32F7A624-1F72-7DB3-7045-7B5AB1E5708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07344" y="3787870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31" name="Text 6">
            <a:extLst>
              <a:ext uri="{FF2B5EF4-FFF2-40B4-BE49-F238E27FC236}">
                <a16:creationId xmlns:a16="http://schemas.microsoft.com/office/drawing/2014/main" id="{7F55E89F-4ACC-C240-1542-6504964B8EED}"/>
              </a:ext>
            </a:extLst>
          </p:cNvPr>
          <p:cNvSpPr/>
          <p:nvPr/>
        </p:nvSpPr>
        <p:spPr>
          <a:xfrm>
            <a:off x="3918603" y="3683001"/>
            <a:ext cx="4493877" cy="126025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tr-TR" sz="105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Performans Onayı:</a:t>
            </a:r>
          </a:p>
          <a:p>
            <a:r>
              <a:rPr lang="tr-TR" sz="105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tr-TR" sz="105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AUC 0.9382 → Sinyal ayırma gücü maksimize edildi </a:t>
            </a:r>
            <a:endParaRPr lang="tr-TR" sz="105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endParaRPr lang="tr-TR" sz="105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r>
              <a:rPr lang="tr-TR" sz="105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Model Doğrulaması:</a:t>
            </a:r>
            <a:r>
              <a:rPr lang="tr-TR" sz="105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</a:p>
          <a:p>
            <a:r>
              <a:rPr lang="tr-TR" sz="105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En iyi parametreler → %88.59 test doğruluğuna ulaşıldı </a:t>
            </a:r>
            <a:endParaRPr lang="tr-TR" sz="105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2438"/>
          </a:solidFill>
          <a:ln w="12700">
            <a:solidFill>
              <a:srgbClr val="14243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365760" y="1828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Özgün Değer 3  —  SHAP ile Açıklanabilir Yapay Zeka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SHapley Additive exPlanations — Küresel &amp; Yerel Model Yorumlama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1005840"/>
          </a:xfrm>
          <a:prstGeom prst="rect">
            <a:avLst/>
          </a:prstGeom>
          <a:solidFill>
            <a:srgbClr val="162032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411480" y="113385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SHAP Nedir?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86000" y="1143000"/>
            <a:ext cx="64922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Oyun teorisinden (Shapley değerleri) türetilen SHAP yöntemi, her değişkenin bireysel tahmine olan katkısını hesaplar. Bu çalışmada test setinden 500 gözlem örneklenerek TreeExplainer kullanıldı. İki düzeyde analiz: (1) Küresel özet grafik, (2) Her gözlem için yerel kuvvet grafikleri (force plot).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97180" y="2213514"/>
            <a:ext cx="4114800" cy="2870550"/>
          </a:xfrm>
          <a:prstGeom prst="rect">
            <a:avLst/>
          </a:prstGeom>
          <a:solidFill>
            <a:srgbClr val="162032"/>
          </a:solidFill>
          <a:ln w="12700">
            <a:solidFill>
              <a:srgbClr val="7B2FBE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365760" y="22420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Küresel SHAP Özeti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572000" y="2157984"/>
            <a:ext cx="4343400" cy="292608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550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2" name="Text 40"/>
          <p:cNvSpPr/>
          <p:nvPr/>
        </p:nvSpPr>
        <p:spPr>
          <a:xfrm>
            <a:off x="4572000" y="216712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Yerel Analiz — 3 Örnek Sinyal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732020" y="2516886"/>
            <a:ext cx="4114800" cy="777240"/>
          </a:xfrm>
          <a:prstGeom prst="rect">
            <a:avLst/>
          </a:prstGeom>
          <a:solidFill>
            <a:srgbClr val="1C2B3F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4" name="Text 42"/>
          <p:cNvSpPr/>
          <p:nvPr/>
        </p:nvSpPr>
        <p:spPr>
          <a:xfrm>
            <a:off x="4823460" y="257175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Sinyal 1 — f(x): 0.97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835140" y="257175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GAMA ✅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823460" y="2900934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fConc1 + fAlpha → Gama yönünde güçlü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823460" y="309295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fSize → hafif Hadron baskısı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732020" y="3412998"/>
            <a:ext cx="4114800" cy="777240"/>
          </a:xfrm>
          <a:prstGeom prst="rect">
            <a:avLst/>
          </a:prstGeom>
          <a:solidFill>
            <a:srgbClr val="1C2B3F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9" name="Text 47"/>
          <p:cNvSpPr/>
          <p:nvPr/>
        </p:nvSpPr>
        <p:spPr>
          <a:xfrm>
            <a:off x="4823460" y="346786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Sinyal 2 — f(x): 0.68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835140" y="346786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GAMA (belirsiz)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823460" y="3797046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fConc1 → Gama  |  fSize + fLength → Hadron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823460" y="398907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Belirsizlik yüksek, birden fazla değişken çatışıyor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732020" y="4309110"/>
            <a:ext cx="4114800" cy="777240"/>
          </a:xfrm>
          <a:prstGeom prst="rect">
            <a:avLst/>
          </a:prstGeom>
          <a:solidFill>
            <a:srgbClr val="1C2B3F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4" name="Text 52"/>
          <p:cNvSpPr/>
          <p:nvPr/>
        </p:nvSpPr>
        <p:spPr>
          <a:xfrm>
            <a:off x="4823460" y="436397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Sinyal 3 — f(x): 0.78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835140" y="436397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GAMA ✅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823460" y="469315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fAlpha + fM3Long → Gama yönünde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823460" y="488518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fDist → Hadron baskısı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8462772" y="476450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tr-TR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r>
              <a:rPr lang="en-US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33</a:t>
            </a:r>
            <a:endParaRPr lang="en-US" sz="800" dirty="0"/>
          </a:p>
        </p:txBody>
      </p:sp>
      <p:pic>
        <p:nvPicPr>
          <p:cNvPr id="59" name="Resim 58">
            <a:extLst>
              <a:ext uri="{FF2B5EF4-FFF2-40B4-BE49-F238E27FC236}">
                <a16:creationId xmlns:a16="http://schemas.microsoft.com/office/drawing/2014/main" id="{6C396DCA-0B44-DFAF-52F5-E8BFB85044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2530070"/>
            <a:ext cx="3429000" cy="244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2438"/>
          </a:solidFill>
          <a:ln w="12700">
            <a:solidFill>
              <a:srgbClr val="14243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365760" y="1828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Özgün Değer 4  —  PCA ile Boyut İndirgeme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Bileşen Analizi ve Karşılaştırmalı Model Analizi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14800" cy="4041648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411480" y="116128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PCA Neden &amp; Nasıl?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384048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Amaç: </a:t>
            </a:r>
            <a:r>
              <a:rPr lang="en-US" sz="10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Boyut indirgemenin model başarımı üzerindeki </a:t>
            </a: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 etkisini </a:t>
            </a:r>
            <a:r>
              <a:rPr lang="en-US" sz="10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gözlemlemek
</a:t>
            </a:r>
            <a:r>
              <a:rPr lang="en-US" sz="10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Önemli Tasarım Kararı:
</a:t>
            </a:r>
            <a:r>
              <a:rPr lang="en-US" sz="10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PCA, SMOTE uygulanmamış orijinal ölçeklendirilmiş veri üzerinde gerçekleştirildi. SMOTE'un sonuçlara müdahalesini önlemek için izole tutuldu.
</a:t>
            </a: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Süreç:
</a:t>
            </a:r>
            <a:r>
              <a:rPr lang="en-US" sz="10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Tüm bileşenler için kümülatif açıklanan varyans grafiği
② %95 bilgiyi koruyan bileşen sayısı belirlendi
③ 3 model: orijinal (10D) vs PCA (7D) karşılaştırma
</a:t>
            </a:r>
            <a:r>
              <a:rPr lang="en-US" sz="10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Sonuç: </a:t>
            </a:r>
            <a:r>
              <a:rPr lang="en-US" sz="10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boyuttan 7 boyuta indirgendi (%95 bilgi korundu). Sadece 3 boyut azaltılmasına rağmen performans neredeyse korundu.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0" y="1097280"/>
            <a:ext cx="4343400" cy="210312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550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4681728" y="116128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Kümülatif Açıklanan Varyans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0" y="3310128"/>
            <a:ext cx="4343400" cy="182880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550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Text 10"/>
          <p:cNvSpPr/>
          <p:nvPr/>
        </p:nvSpPr>
        <p:spPr>
          <a:xfrm>
            <a:off x="4681728" y="33649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Orijinal</a:t>
            </a: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PCA Doğrulukları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8412480" y="491947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</a:t>
            </a:r>
            <a:r>
              <a:rPr lang="tr-TR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pic>
        <p:nvPicPr>
          <p:cNvPr id="14" name="Resim 13">
            <a:extLst>
              <a:ext uri="{FF2B5EF4-FFF2-40B4-BE49-F238E27FC236}">
                <a16:creationId xmlns:a16="http://schemas.microsoft.com/office/drawing/2014/main" id="{173F0E4D-6CC4-F4E9-B849-F756952168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5430" y="1439506"/>
            <a:ext cx="3807810" cy="1678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Resim 15">
            <a:extLst>
              <a:ext uri="{FF2B5EF4-FFF2-40B4-BE49-F238E27FC236}">
                <a16:creationId xmlns:a16="http://schemas.microsoft.com/office/drawing/2014/main" id="{F486DF98-897B-2E68-C6A9-5CF23BFAAC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4547" y="3645153"/>
            <a:ext cx="4189162" cy="127431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2438"/>
          </a:solidFill>
          <a:ln w="12700">
            <a:solidFill>
              <a:srgbClr val="14243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365760" y="1828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 Literatür Taraması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Gamma Telescope Veri Seti Üzerine 10+ Çalışmanın Özeti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4206240" cy="71323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5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274320" y="1115568"/>
            <a:ext cx="64008" cy="7132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429768" y="11704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Ohtani &amp; MAGIC Collab. (2021)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88920" y="117043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Rastgele Orman → %87+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9768" y="14813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gözlem verisi, RF standart prosedür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115568"/>
            <a:ext cx="4206240" cy="71323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5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4709160" y="1115568"/>
            <a:ext cx="64008" cy="7132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4864608" y="11704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Karthick vd. (2024)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223760" y="117043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(3 katman) → %88.71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64608" y="14813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 öğrenme, ReLU, CART'ı (%79.44) geçti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1920240"/>
            <a:ext cx="4206240" cy="71323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5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274320" y="1920240"/>
            <a:ext cx="64008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429768" y="197510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Mattar &amp; Towfek (2026)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88920" y="197510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EALSTM+ABGGO → %97.18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29768" y="2286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Meta-sezgisel opt., F1: 0.9705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09160" y="1920240"/>
            <a:ext cx="4206240" cy="71323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5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4709160" y="1920240"/>
            <a:ext cx="64008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4864608" y="197510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Bhandari &amp; Adhikari (2024)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223760" y="197510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Ağacı → %82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64608" y="2286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Derinlik 9 optimal, derinlik 17 overfitting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2724912"/>
            <a:ext cx="4206240" cy="71323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5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Shape 25"/>
          <p:cNvSpPr/>
          <p:nvPr/>
        </p:nvSpPr>
        <p:spPr>
          <a:xfrm>
            <a:off x="274320" y="2724912"/>
            <a:ext cx="64008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429768" y="27797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Anitha vd. (2024)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88920" y="277977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+ AdaBoost → %87.29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29768" y="30906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Topluluk modelleri karşılaştırıldı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9160" y="2724912"/>
            <a:ext cx="4206240" cy="71323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5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Shape 30"/>
          <p:cNvSpPr/>
          <p:nvPr/>
        </p:nvSpPr>
        <p:spPr>
          <a:xfrm>
            <a:off x="4709160" y="2724912"/>
            <a:ext cx="64008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4864608" y="27797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Lustosa &amp; Menzies (2025)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223760" y="277977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Çeşitli → DRR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64608" y="30906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 algoritmalar 100x daha hızlı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3529584"/>
            <a:ext cx="4206240" cy="71323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5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Shape 35"/>
          <p:cNvSpPr/>
          <p:nvPr/>
        </p:nvSpPr>
        <p:spPr>
          <a:xfrm>
            <a:off x="274320" y="3529584"/>
            <a:ext cx="64008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Text 36"/>
          <p:cNvSpPr/>
          <p:nvPr/>
        </p:nvSpPr>
        <p:spPr>
          <a:xfrm>
            <a:off x="429768" y="35844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Miener vd. (2022)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788920" y="358444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CTLearn TRN → ≈RF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29768" y="389534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kamera görüntüleri → parametrik kadar iyi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09160" y="3529584"/>
            <a:ext cx="4206240" cy="71323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5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2" name="Shape 40"/>
          <p:cNvSpPr/>
          <p:nvPr/>
        </p:nvSpPr>
        <p:spPr>
          <a:xfrm>
            <a:off x="4709160" y="3529584"/>
            <a:ext cx="64008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Text 41"/>
          <p:cNvSpPr/>
          <p:nvPr/>
        </p:nvSpPr>
        <p:spPr>
          <a:xfrm>
            <a:off x="4864608" y="35844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Jashwanth vd. (2022)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223760" y="358444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QSVC/VQC → %64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864608" y="389534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sınıflandırıcılar; XGBoost %88.4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74320" y="4334256"/>
            <a:ext cx="4206240" cy="71323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5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7" name="Shape 45"/>
          <p:cNvSpPr/>
          <p:nvPr/>
        </p:nvSpPr>
        <p:spPr>
          <a:xfrm>
            <a:off x="274320" y="4334256"/>
            <a:ext cx="64008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8" name="Text 46"/>
          <p:cNvSpPr/>
          <p:nvPr/>
        </p:nvSpPr>
        <p:spPr>
          <a:xfrm>
            <a:off x="429768" y="4389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Diler &amp; Demir (2024)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788920" y="43891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Korelasyon analizi → —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29768" y="47000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Çoklu doğrusal bağlantı NB'yi olumsuz etkiliyor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709160" y="4334256"/>
            <a:ext cx="4206240" cy="71323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5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2" name="Shape 50"/>
          <p:cNvSpPr/>
          <p:nvPr/>
        </p:nvSpPr>
        <p:spPr>
          <a:xfrm>
            <a:off x="4709160" y="4334256"/>
            <a:ext cx="64008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3" name="Text 51"/>
          <p:cNvSpPr/>
          <p:nvPr/>
        </p:nvSpPr>
        <p:spPr>
          <a:xfrm>
            <a:off x="4864608" y="4389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Acevedo (2023)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223760" y="43891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vs NB → %86/%71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864608" y="47000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F1:0.85, NB F1:0.65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8412480" y="491947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</a:t>
            </a:r>
            <a:r>
              <a:rPr lang="tr-TR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457200"/>
            <a:ext cx="3657600" cy="3657600"/>
          </a:xfrm>
          <a:prstGeom prst="ellipse">
            <a:avLst/>
          </a:prstGeom>
          <a:solidFill>
            <a:srgbClr val="06D6A0">
              <a:alpha val="8000"/>
            </a:srgbClr>
          </a:solidFill>
          <a:ln w="12700">
            <a:solidFill>
              <a:srgbClr val="06D6A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8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Bulgular</a:t>
            </a:r>
            <a:endParaRPr lang="en-US" sz="4200" dirty="0"/>
          </a:p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Tartışma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2743200" y="3584448"/>
            <a:ext cx="3657600" cy="457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• SMOTE • k-NN • Klasik Modeller • Optimize RF • SHAP • YSA • Gözetimsiz • PCA • Genel Özet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0" y="491947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</a:t>
            </a:r>
            <a:r>
              <a:rPr lang="tr-TR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2438"/>
          </a:solidFill>
          <a:ln w="12700">
            <a:solidFill>
              <a:srgbClr val="14243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365760" y="1828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 Keşifsel Veri Analizi Bulguları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Korelasyon ısı haritası ve öne çıkan değişken ilişkileri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5303520" cy="40416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411480" y="116128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Şekil 1 — Korelasyon Isı Haritası Özet Tablosu</a:t>
            </a:r>
            <a:endParaRPr lang="en-US" sz="1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572768"/>
          <a:ext cx="5074920" cy="1975104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Değişken Çifti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Korelasyon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Yön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Önemi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fConc — fConc1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F2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Pozitif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EF2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Bağımsızlık ihlali!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fLength — fWidth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Pozitif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Elips boyutları ilişkili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fSize — fConc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361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−0.85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Enerji-konsantrasyon ters ilişkili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fSize — fConc1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361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−0.81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Benzer ters ilişki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— fAlpha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7B2F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−0.46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 Hedefle en güçlü ilişki!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11480" y="361188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Bulgulardan Çıkan İki Önemli Sonuç: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11480" y="3977640"/>
            <a:ext cx="507492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fConc — fConc1 korelasyonu (0.98): </a:t>
            </a:r>
            <a:r>
              <a:rPr lang="en-US" sz="10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Neredeyse tam doğrusal bağlantı → Naive Bayes'in bağımsızlık varsayımını ihlal ediyor. Bu model düşük performans gösterecek (beklenti doğrulandı)
</a:t>
            </a: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PCA Gerekçesi: </a:t>
            </a:r>
            <a:r>
              <a:rPr lang="en-US" sz="10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Değişkenler arasındaki yüksek korelasyon yapısı, boyut indirgemenin hem gerekli hem de etkili olacağına işaret ediyor</a:t>
            </a:r>
            <a:endParaRPr lang="en-US" sz="1050" dirty="0"/>
          </a:p>
        </p:txBody>
      </p:sp>
      <p:graphicFrame>
        <p:nvGraphicFramePr>
          <p:cNvPr id="11" name="Chart 0"/>
          <p:cNvGraphicFramePr/>
          <p:nvPr>
            <p:extLst>
              <p:ext uri="{D42A27DB-BD31-4B8C-83A1-F6EECF244321}">
                <p14:modId xmlns:p14="http://schemas.microsoft.com/office/powerpoint/2010/main" val="4195538309"/>
              </p:ext>
            </p:extLst>
          </p:nvPr>
        </p:nvGraphicFramePr>
        <p:xfrm>
          <a:off x="5760720" y="1097280"/>
          <a:ext cx="32004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hape 8"/>
          <p:cNvSpPr/>
          <p:nvPr/>
        </p:nvSpPr>
        <p:spPr>
          <a:xfrm>
            <a:off x="5760720" y="3493008"/>
            <a:ext cx="3200400" cy="1645920"/>
          </a:xfrm>
          <a:prstGeom prst="rect">
            <a:avLst/>
          </a:prstGeom>
          <a:solidFill>
            <a:srgbClr val="162032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9"/>
          <p:cNvSpPr/>
          <p:nvPr/>
        </p:nvSpPr>
        <p:spPr>
          <a:xfrm>
            <a:off x="5870448" y="3547872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Sınıf Dengesizliği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870448" y="3904488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1,84:1 oranı → Azınlık sınıfı Hadron'u yakalamak için SMOTE Pipeline kullanılması gerekiyor. Sadece doğruluk metriği yeterli değil, Recall ve AUC izlenmeli.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8412480" y="491947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</a:t>
            </a:r>
            <a:r>
              <a:rPr lang="tr-TR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2438"/>
          </a:solidFill>
          <a:ln w="12700">
            <a:solidFill>
              <a:srgbClr val="14243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365760" y="1828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 SMOTE Etkisi ve Sınıf Dengesi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Seti Dağılımı &amp; RF Karmaşıklık Matrisi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99230" y="3979790"/>
            <a:ext cx="5029200" cy="1188720"/>
          </a:xfrm>
          <a:prstGeom prst="rect">
            <a:avLst/>
          </a:prstGeom>
          <a:solidFill>
            <a:srgbClr val="162032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5"/>
          <p:cNvSpPr/>
          <p:nvPr/>
        </p:nvSpPr>
        <p:spPr>
          <a:xfrm>
            <a:off x="411480" y="400507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3 Modelde SMOTE Etkisi (Hadron Recall):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1480" y="4315968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Lojistik Regresyon: Hadron recall'ı belirgin biçimde arttı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11480" y="4562856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k-NN: Hadron recall'ı belirgin biçimde arttı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11480" y="4809744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Rastgele Orman: Hadron recall'ında marginal iyileşme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440680" y="1176488"/>
            <a:ext cx="3429000" cy="2331720"/>
          </a:xfrm>
          <a:prstGeom prst="rect">
            <a:avLst/>
          </a:prstGeom>
          <a:solidFill>
            <a:srgbClr val="162032"/>
          </a:solidFill>
          <a:ln w="1270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 dirty="0"/>
          </a:p>
        </p:txBody>
      </p:sp>
      <p:sp>
        <p:nvSpPr>
          <p:cNvPr id="26" name="Shape 23"/>
          <p:cNvSpPr/>
          <p:nvPr/>
        </p:nvSpPr>
        <p:spPr>
          <a:xfrm>
            <a:off x="5486400" y="3520440"/>
            <a:ext cx="3429000" cy="1618488"/>
          </a:xfrm>
          <a:prstGeom prst="rect">
            <a:avLst/>
          </a:prstGeom>
          <a:solidFill>
            <a:srgbClr val="162032"/>
          </a:solidFill>
          <a:ln w="12700">
            <a:solidFill>
              <a:srgbClr val="1E35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4"/>
          <p:cNvSpPr/>
          <p:nvPr/>
        </p:nvSpPr>
        <p:spPr>
          <a:xfrm>
            <a:off x="5596128" y="3593592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 Gama (TN→TP)  2,245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596128" y="3959352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 Hadron (TN)  1,099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5596128" y="4325112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Yanlış Gama (FN)  221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5596128" y="4690872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Yanlış Hadron (FP)  239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8412480" y="491947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</a:t>
            </a:r>
            <a:r>
              <a:rPr lang="tr-TR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pic>
        <p:nvPicPr>
          <p:cNvPr id="16" name="Resim 15">
            <a:extLst>
              <a:ext uri="{FF2B5EF4-FFF2-40B4-BE49-F238E27FC236}">
                <a16:creationId xmlns:a16="http://schemas.microsoft.com/office/drawing/2014/main" id="{D5126540-900B-94BB-1E85-5D16496A96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9352" y="1289304"/>
            <a:ext cx="2731656" cy="2099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Resim 32">
            <a:extLst>
              <a:ext uri="{FF2B5EF4-FFF2-40B4-BE49-F238E27FC236}">
                <a16:creationId xmlns:a16="http://schemas.microsoft.com/office/drawing/2014/main" id="{F427D63E-A9D4-6612-34C6-A1153B807F9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373" y="1250813"/>
            <a:ext cx="4466632" cy="25120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2438"/>
          </a:solidFill>
          <a:ln w="12700">
            <a:solidFill>
              <a:srgbClr val="14243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365760" y="1828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 k-NN Hiperparametre Optimizasyonu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 err="1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Komşu</a:t>
            </a:r>
            <a:r>
              <a:rPr lang="en-US" sz="11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Sayısına Göre Doğruluk Değişimi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427956666"/>
              </p:ext>
            </p:extLst>
          </p:nvPr>
        </p:nvGraphicFramePr>
        <p:xfrm>
          <a:off x="274320" y="1097280"/>
          <a:ext cx="54864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943600" y="1097280"/>
            <a:ext cx="2971800" cy="3566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6D6A0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Text 5"/>
          <p:cNvSpPr/>
          <p:nvPr/>
        </p:nvSpPr>
        <p:spPr>
          <a:xfrm>
            <a:off x="6053328" y="11612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Bulgular &amp; Yorum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053328" y="1572768"/>
            <a:ext cx="2743200" cy="502920"/>
          </a:xfrm>
          <a:prstGeom prst="rect">
            <a:avLst/>
          </a:prstGeom>
          <a:solidFill>
            <a:srgbClr val="1C2B3F"/>
          </a:solidFill>
          <a:ln w="12700">
            <a:solidFill>
              <a:srgbClr val="1E35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7"/>
          <p:cNvSpPr/>
          <p:nvPr/>
        </p:nvSpPr>
        <p:spPr>
          <a:xfrm>
            <a:off x="6099048" y="1572768"/>
            <a:ext cx="347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73952" y="1572768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k=1: 0.812 — Tek komşu gürültüye aşırı duyarlı (overfitting)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053328" y="2139696"/>
            <a:ext cx="2743200" cy="502920"/>
          </a:xfrm>
          <a:prstGeom prst="rect">
            <a:avLst/>
          </a:prstGeom>
          <a:solidFill>
            <a:srgbClr val="1C2B3F"/>
          </a:solidFill>
          <a:ln w="12700">
            <a:solidFill>
              <a:srgbClr val="1E35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0"/>
          <p:cNvSpPr/>
          <p:nvPr/>
        </p:nvSpPr>
        <p:spPr>
          <a:xfrm>
            <a:off x="6099048" y="2139696"/>
            <a:ext cx="347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73952" y="2139696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k=2: 0.796 — Çift komşu beraberlik (tie) yaratıyor → ani düşüş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053328" y="2706624"/>
            <a:ext cx="2743200" cy="502920"/>
          </a:xfrm>
          <a:prstGeom prst="rect">
            <a:avLst/>
          </a:prstGeom>
          <a:solidFill>
            <a:srgbClr val="1C2B3F"/>
          </a:solidFill>
          <a:ln w="12700">
            <a:solidFill>
              <a:srgbClr val="1E35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3"/>
          <p:cNvSpPr/>
          <p:nvPr/>
        </p:nvSpPr>
        <p:spPr>
          <a:xfrm>
            <a:off x="6099048" y="2706624"/>
            <a:ext cx="347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473952" y="2706624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k=3+: Doğruluk tekrar yükseliyor, istikrar kazanıyor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053328" y="3273552"/>
            <a:ext cx="2743200" cy="502920"/>
          </a:xfrm>
          <a:prstGeom prst="rect">
            <a:avLst/>
          </a:prstGeom>
          <a:solidFill>
            <a:srgbClr val="1C2B3F"/>
          </a:solidFill>
          <a:ln w="12700">
            <a:solidFill>
              <a:srgbClr val="1E35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6"/>
          <p:cNvSpPr/>
          <p:nvPr/>
        </p:nvSpPr>
        <p:spPr>
          <a:xfrm>
            <a:off x="6099048" y="3273552"/>
            <a:ext cx="347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473952" y="3273552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k≈12: En yüksek CV skoru elde edildi (~0.842)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053328" y="3840480"/>
            <a:ext cx="2743200" cy="502920"/>
          </a:xfrm>
          <a:prstGeom prst="rect">
            <a:avLst/>
          </a:prstGeom>
          <a:solidFill>
            <a:srgbClr val="1C2B3F"/>
          </a:solidFill>
          <a:ln w="12700">
            <a:solidFill>
              <a:srgbClr val="1E35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19"/>
          <p:cNvSpPr/>
          <p:nvPr/>
        </p:nvSpPr>
        <p:spPr>
          <a:xfrm>
            <a:off x="6099048" y="3840480"/>
            <a:ext cx="347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473952" y="3840480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k=5→20: 0.836–0.842 bandında istikrarlı performans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274320" y="4754880"/>
            <a:ext cx="8595360" cy="384048"/>
          </a:xfrm>
          <a:prstGeom prst="rect">
            <a:avLst/>
          </a:prstGeom>
          <a:solidFill>
            <a:srgbClr val="1A0800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2"/>
          <p:cNvSpPr/>
          <p:nvPr/>
        </p:nvSpPr>
        <p:spPr>
          <a:xfrm>
            <a:off x="411480" y="477316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Genel Yorum: Scikit-learn kütüphanesi çift k değerlerindeki beraberlik durumunu kendi içinde çözebilmektedir. Bu nedenle k=12 (çift) kullanımında herhangi bir sorun oluşmamıştır.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8412480" y="491947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</a:t>
            </a:r>
            <a:r>
              <a:rPr lang="tr-TR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2438"/>
          </a:solidFill>
          <a:ln w="12700">
            <a:solidFill>
              <a:srgbClr val="14243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365760" y="1828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 Klasik Model Karşılaştırması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6 Algoritmanın 5-Fold CV ve Test Seti Sonuçları</a:t>
            </a:r>
            <a:endParaRPr lang="en-US" sz="11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7726680" cy="2304288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Algoritma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Doğ. (Ort.)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Std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Doğ.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Hassasiyet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Duyarlılık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F1-Skoru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Rastgele Orman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0.8763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0.0064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0.8859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0.8869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0.9444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0.9148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0.9374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k-NN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0.8406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0.8343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0.9436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0.8856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0.8951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 (Entropi)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0.8193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0.0075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0.8160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0.8575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 (Gini)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0.8134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0.8569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0.8548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0.8559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0.7959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Lojistik Reg.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0.7934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0.0060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0.7836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0.7929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0.9019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0.8439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EF2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Bayes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EF2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0.7261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0.0078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EF2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0.7298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0.7339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0.9148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0E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0.8144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EF2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0.7488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7" name="Chart 0"/>
          <p:cNvGraphicFramePr/>
          <p:nvPr/>
        </p:nvGraphicFramePr>
        <p:xfrm>
          <a:off x="274320" y="3840480"/>
          <a:ext cx="8595360" cy="128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4"/>
          <p:cNvSpPr/>
          <p:nvPr/>
        </p:nvSpPr>
        <p:spPr>
          <a:xfrm>
            <a:off x="8412480" y="491947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</a:t>
            </a:r>
            <a:r>
              <a:rPr lang="tr-TR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2438"/>
          </a:solidFill>
          <a:ln w="12700">
            <a:solidFill>
              <a:srgbClr val="14243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365760" y="1828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 Optimize Rastgele Orman Sonuçları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 err="1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Karmaşıklık</a:t>
            </a:r>
            <a:r>
              <a:rPr lang="en-US" sz="11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Matrisi, ROC Eğrisi, Özellik Önemi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3200400" cy="4041648"/>
          </a:xfrm>
          <a:prstGeom prst="rect">
            <a:avLst/>
          </a:prstGeom>
          <a:solidFill>
            <a:srgbClr val="0D1B2A"/>
          </a:solidFill>
          <a:ln w="12700">
            <a:solidFill>
              <a:srgbClr val="FFB703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384048" y="3703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Toplam: 3,804 gözlem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4048" y="39959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Doğru: 3,339 (%87.77)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4048" y="428853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Yanlış Negatif (FN): 220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4048" y="458114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FN düşük → gerçek Gama </a:t>
            </a:r>
            <a:r>
              <a:rPr lang="en-US" sz="1000" b="1" dirty="0" err="1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kaçırılmıyor</a:t>
            </a:r>
            <a:r>
              <a:rPr lang="en-US" sz="1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578606" y="1097280"/>
            <a:ext cx="2685034" cy="4041648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 dirty="0"/>
          </a:p>
        </p:txBody>
      </p:sp>
      <p:sp>
        <p:nvSpPr>
          <p:cNvPr id="25" name="Text 23"/>
          <p:cNvSpPr/>
          <p:nvPr/>
        </p:nvSpPr>
        <p:spPr>
          <a:xfrm>
            <a:off x="3767328" y="116128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Eğrisi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3578606" y="3860100"/>
            <a:ext cx="2766060" cy="1131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tr-TR" sz="1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AUC Skoru:</a:t>
            </a:r>
            <a:r>
              <a:rPr lang="tr-TR" sz="1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0.9382 </a:t>
            </a:r>
          </a:p>
          <a:p>
            <a:endParaRPr lang="tr-TR" sz="10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r>
              <a:rPr lang="tr-TR" sz="1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Sınıf Ayırma Gücü:</a:t>
            </a:r>
            <a:r>
              <a:rPr lang="tr-TR" sz="1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Çok yüksek seviyede</a:t>
            </a:r>
          </a:p>
          <a:p>
            <a:endParaRPr lang="tr-TR" sz="10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r>
              <a:rPr lang="tr-TR" sz="1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Modelin Başarısı:</a:t>
            </a:r>
            <a:r>
              <a:rPr lang="tr-TR" sz="1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Rastgele tahminin (0.5) çok üzerinde kararlılık sergiliyor</a:t>
            </a:r>
          </a:p>
          <a:p>
            <a:endParaRPr lang="tr-TR" sz="10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r>
              <a:rPr lang="tr-TR" sz="1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🎯 </a:t>
            </a:r>
            <a:r>
              <a:rPr lang="tr-TR" sz="1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Yüksek AUC -&gt; Modeli güvenle kullanabiliriz</a:t>
            </a:r>
            <a:endParaRPr lang="tr-TR" sz="10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endParaRPr lang="en-US" sz="10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9" name="Shape 26"/>
          <p:cNvSpPr/>
          <p:nvPr/>
        </p:nvSpPr>
        <p:spPr>
          <a:xfrm>
            <a:off x="6309360" y="1097280"/>
            <a:ext cx="2880360" cy="4041648"/>
          </a:xfrm>
          <a:prstGeom prst="rect">
            <a:avLst/>
          </a:prstGeom>
          <a:solidFill>
            <a:srgbClr val="0D1B2A"/>
          </a:solidFill>
          <a:ln w="12700">
            <a:solidFill>
              <a:srgbClr val="06D6A0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 dirty="0"/>
          </a:p>
        </p:txBody>
      </p:sp>
      <p:sp>
        <p:nvSpPr>
          <p:cNvPr id="30" name="Text 27"/>
          <p:cNvSpPr/>
          <p:nvPr/>
        </p:nvSpPr>
        <p:spPr>
          <a:xfrm>
            <a:off x="6400800" y="116128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 Önemi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8412480" y="491947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</a:t>
            </a:r>
            <a:r>
              <a:rPr lang="tr-TR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pic>
        <p:nvPicPr>
          <p:cNvPr id="33" name="Resim 32">
            <a:extLst>
              <a:ext uri="{FF2B5EF4-FFF2-40B4-BE49-F238E27FC236}">
                <a16:creationId xmlns:a16="http://schemas.microsoft.com/office/drawing/2014/main" id="{7E582B0F-D0C0-7E83-74E2-8792A00D29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798" y="1441514"/>
            <a:ext cx="2721186" cy="2274561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 23">
            <a:extLst>
              <a:ext uri="{FF2B5EF4-FFF2-40B4-BE49-F238E27FC236}">
                <a16:creationId xmlns:a16="http://schemas.microsoft.com/office/drawing/2014/main" id="{6EDC56BD-63B4-9592-899F-ACD77CE3926D}"/>
              </a:ext>
            </a:extLst>
          </p:cNvPr>
          <p:cNvSpPr/>
          <p:nvPr/>
        </p:nvSpPr>
        <p:spPr>
          <a:xfrm>
            <a:off x="726948" y="1099593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Karmaşıklık Matrisi</a:t>
            </a:r>
            <a:endParaRPr lang="en-US" sz="1100" dirty="0"/>
          </a:p>
        </p:txBody>
      </p:sp>
      <p:pic>
        <p:nvPicPr>
          <p:cNvPr id="35" name="Resim 34">
            <a:extLst>
              <a:ext uri="{FF2B5EF4-FFF2-40B4-BE49-F238E27FC236}">
                <a16:creationId xmlns:a16="http://schemas.microsoft.com/office/drawing/2014/main" id="{EA43CAE3-F367-352D-DC26-2CEF712F75A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1774" y="1508760"/>
            <a:ext cx="2398698" cy="2098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Resim 35">
            <a:extLst>
              <a:ext uri="{FF2B5EF4-FFF2-40B4-BE49-F238E27FC236}">
                <a16:creationId xmlns:a16="http://schemas.microsoft.com/office/drawing/2014/main" id="{BA8F1328-7652-822B-54E7-EE3320382A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0335" y="1531938"/>
            <a:ext cx="2581790" cy="2171382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Text 18">
            <a:extLst>
              <a:ext uri="{FF2B5EF4-FFF2-40B4-BE49-F238E27FC236}">
                <a16:creationId xmlns:a16="http://schemas.microsoft.com/office/drawing/2014/main" id="{487080E6-4C23-EC39-AD32-3BEDC6ED2EB2}"/>
              </a:ext>
            </a:extLst>
          </p:cNvPr>
          <p:cNvSpPr/>
          <p:nvPr/>
        </p:nvSpPr>
        <p:spPr>
          <a:xfrm>
            <a:off x="6400800" y="3863108"/>
            <a:ext cx="2926080" cy="908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tr-TR" sz="1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Lider Değişken:</a:t>
            </a:r>
            <a:r>
              <a:rPr lang="tr-TR" sz="1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tr-TR" sz="1000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fAlpha</a:t>
            </a:r>
            <a:r>
              <a:rPr lang="tr-TR" sz="1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(~0.27 önem değeri)</a:t>
            </a:r>
          </a:p>
          <a:p>
            <a:endParaRPr lang="tr-TR" sz="10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r>
              <a:rPr lang="tr-TR" sz="1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En Etkili Grup:</a:t>
            </a:r>
            <a:r>
              <a:rPr lang="tr-TR" sz="1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tr-TR" sz="1000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fLength</a:t>
            </a:r>
            <a:r>
              <a:rPr lang="tr-TR" sz="1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, </a:t>
            </a:r>
            <a:r>
              <a:rPr lang="tr-TR" sz="1000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fWidth</a:t>
            </a:r>
            <a:r>
              <a:rPr lang="tr-TR" sz="1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ve </a:t>
            </a:r>
            <a:r>
              <a:rPr lang="tr-TR" sz="1000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fSize</a:t>
            </a:r>
            <a:endParaRPr lang="tr-TR" sz="10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endParaRPr lang="tr-TR" sz="10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r>
              <a:rPr lang="tr-TR" sz="1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Model Mantığı:</a:t>
            </a:r>
            <a:r>
              <a:rPr lang="tr-TR" sz="1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Karar aşamasında fiziksel geometri ön planda</a:t>
            </a:r>
          </a:p>
          <a:p>
            <a:endParaRPr lang="tr-TR" sz="10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r>
              <a:rPr lang="tr-TR" sz="1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⭐ </a:t>
            </a:r>
            <a:r>
              <a:rPr lang="tr-TR" sz="10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fAlpha</a:t>
            </a:r>
            <a:r>
              <a:rPr lang="tr-TR" sz="1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baskın -&gt; Yön tayini en kritik kriter</a:t>
            </a:r>
            <a:endParaRPr lang="tr-TR" sz="10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2438"/>
          </a:solidFill>
          <a:ln w="12700">
            <a:solidFill>
              <a:srgbClr val="14243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365760" y="1828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  SHAP Açıklanabilir Yapay Zeka Bulguları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 err="1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Özet</a:t>
            </a:r>
            <a:r>
              <a:rPr lang="en-US" sz="11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Grafik &amp; 3 Örnek Sinyal Force Plot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14800" cy="3886200"/>
          </a:xfrm>
          <a:prstGeom prst="rect">
            <a:avLst/>
          </a:prstGeom>
          <a:solidFill>
            <a:srgbClr val="162032"/>
          </a:solidFill>
          <a:ln w="12700">
            <a:solidFill>
              <a:srgbClr val="7B2FBE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384048" y="116128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23534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nokta = 1 gözlem | Renk = değişken değeri (kırmızı:yüksek, mavi:düşük) | Yatay konum = SHAP katkısı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84048" y="1737360"/>
            <a:ext cx="3840480" cy="548640"/>
          </a:xfrm>
          <a:prstGeom prst="rect">
            <a:avLst/>
          </a:prstGeom>
          <a:solidFill>
            <a:srgbClr val="1C2B3F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475488" y="181051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fAlpha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80160" y="181051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SHAP: ≈0.27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148840" y="1792224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Düşük fAlpha (mavi) → pozitif SHAP → Gama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fAlpha (kırmızı) → negatif SHAP → Hadron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84048" y="2359152"/>
            <a:ext cx="3840480" cy="548640"/>
          </a:xfrm>
          <a:prstGeom prst="rect">
            <a:avLst/>
          </a:prstGeom>
          <a:solidFill>
            <a:srgbClr val="1C2B3F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475488" y="2432304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fSize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80160" y="2432304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SHAP: ≈0.11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148840" y="2414016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enerji birikimi Gama lehine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Büyük fSize → pozitif SHAP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84048" y="2980944"/>
            <a:ext cx="3840480" cy="548640"/>
          </a:xfrm>
          <a:prstGeom prst="rect">
            <a:avLst/>
          </a:prstGeom>
          <a:solidFill>
            <a:srgbClr val="1C2B3F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475488" y="3054096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fLength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80160" y="3054096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SHAP: ≈0.14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148840" y="3035808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Elips uzunluğu sınıfı şekillendiriyor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84048" y="3602736"/>
            <a:ext cx="3840480" cy="548640"/>
          </a:xfrm>
          <a:prstGeom prst="rect">
            <a:avLst/>
          </a:prstGeom>
          <a:solidFill>
            <a:srgbClr val="1C2B3F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475488" y="3675888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fWidth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80160" y="367588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SHAP: ≈0.12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148840" y="3657600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Genişlik ile sınıf ilişkili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84048" y="4224528"/>
            <a:ext cx="3840480" cy="548640"/>
          </a:xfrm>
          <a:prstGeom prst="rect">
            <a:avLst/>
          </a:prstGeom>
          <a:solidFill>
            <a:srgbClr val="1C2B3F"/>
          </a:solidFill>
          <a:ln w="12700">
            <a:solidFill>
              <a:srgbClr val="6B9EC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475488" y="429768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fM3Trans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280160" y="42976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SHAP: ≈0.04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148840" y="4279392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iki analizde de en düşük katkı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32760" y="1078992"/>
            <a:ext cx="4343400" cy="3904488"/>
          </a:xfrm>
          <a:prstGeom prst="rect">
            <a:avLst/>
          </a:prstGeom>
          <a:solidFill>
            <a:srgbClr val="162032"/>
          </a:solidFill>
          <a:ln w="12700">
            <a:solidFill>
              <a:srgbClr val="1E3550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1" name="Shape 29"/>
          <p:cNvSpPr/>
          <p:nvPr/>
        </p:nvSpPr>
        <p:spPr>
          <a:xfrm>
            <a:off x="4663440" y="1318916"/>
            <a:ext cx="4114800" cy="1078992"/>
          </a:xfrm>
          <a:prstGeom prst="rect">
            <a:avLst/>
          </a:prstGeom>
          <a:solidFill>
            <a:srgbClr val="1C2B3F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4754880" y="139206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1050" b="1" dirty="0" err="1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inyal</a:t>
            </a: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040880" y="139206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0.97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754880" y="1684676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Karar: GAMA ✅ (Yüksek güven)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54880" y="1913276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fConc1 + fAlpha → Gama yönünde güçlü destek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54880" y="212358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fSize → hafif Hadron baskısı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2507636"/>
            <a:ext cx="4114800" cy="1078992"/>
          </a:xfrm>
          <a:prstGeom prst="rect">
            <a:avLst/>
          </a:prstGeom>
          <a:solidFill>
            <a:srgbClr val="1C2B3F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Text 36"/>
          <p:cNvSpPr/>
          <p:nvPr/>
        </p:nvSpPr>
        <p:spPr>
          <a:xfrm>
            <a:off x="4754880" y="258078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Sinyal 2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040880" y="258078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0.68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754880" y="2873396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Karar: GAMA (Belirsiz karar)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754880" y="3101996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fConc1 + diğerleri → Gama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54880" y="331230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fSize + fLength → Hadron baskısı (çatışma yüksek)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63440" y="3696356"/>
            <a:ext cx="4114800" cy="1078992"/>
          </a:xfrm>
          <a:prstGeom prst="rect">
            <a:avLst/>
          </a:prstGeom>
          <a:solidFill>
            <a:srgbClr val="1C2B3F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4" name="Text 42"/>
          <p:cNvSpPr/>
          <p:nvPr/>
        </p:nvSpPr>
        <p:spPr>
          <a:xfrm>
            <a:off x="4754880" y="376950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 err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Sinyal</a:t>
            </a: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040880" y="376950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0.78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754880" y="4062116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Karar: GAMA ✅ (Orta güven)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754880" y="4290716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fAlpha + fM3Long → belirleyici Gama katkısı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754880" y="450102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fDist → Hadron baskısı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412480" y="491947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</a:t>
            </a:r>
            <a:r>
              <a:rPr lang="tr-TR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2438"/>
          </a:solidFill>
          <a:ln w="12700">
            <a:solidFill>
              <a:srgbClr val="14243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365760" y="1828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  Yapay Sinir Ağı Sonuçları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 err="1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Doğruluk</a:t>
            </a:r>
            <a:r>
              <a:rPr lang="en-US" sz="11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Kayıp, Karmaşıklık Matrisi, ROC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3015242968"/>
              </p:ext>
            </p:extLst>
          </p:nvPr>
        </p:nvGraphicFramePr>
        <p:xfrm>
          <a:off x="274320" y="1097280"/>
          <a:ext cx="411480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>
            <p:extLst>
              <p:ext uri="{D42A27DB-BD31-4B8C-83A1-F6EECF244321}">
                <p14:modId xmlns:p14="http://schemas.microsoft.com/office/powerpoint/2010/main" val="674659681"/>
              </p:ext>
            </p:extLst>
          </p:nvPr>
        </p:nvGraphicFramePr>
        <p:xfrm>
          <a:off x="274320" y="3218688"/>
          <a:ext cx="411480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4572000" y="1097280"/>
            <a:ext cx="2377440" cy="2103120"/>
          </a:xfrm>
          <a:prstGeom prst="rect">
            <a:avLst/>
          </a:prstGeom>
          <a:solidFill>
            <a:srgbClr val="0D1B2A"/>
          </a:solidFill>
          <a:ln w="12700">
            <a:solidFill>
              <a:srgbClr val="7B2FBE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Text 5"/>
          <p:cNvSpPr/>
          <p:nvPr/>
        </p:nvSpPr>
        <p:spPr>
          <a:xfrm>
            <a:off x="4663440" y="116128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YSA CM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7008961" y="1097280"/>
            <a:ext cx="2103120" cy="2103120"/>
          </a:xfrm>
          <a:prstGeom prst="rect">
            <a:avLst/>
          </a:prstGeom>
          <a:solidFill>
            <a:srgbClr val="0D1B2A"/>
          </a:solidFill>
          <a:ln w="12700">
            <a:solidFill>
              <a:srgbClr val="7B2FBE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9" name="Text 15"/>
          <p:cNvSpPr/>
          <p:nvPr/>
        </p:nvSpPr>
        <p:spPr>
          <a:xfrm>
            <a:off x="7214701" y="1050288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572000" y="3310128"/>
            <a:ext cx="4480560" cy="1828800"/>
          </a:xfrm>
          <a:prstGeom prst="rect">
            <a:avLst/>
          </a:prstGeom>
          <a:solidFill>
            <a:srgbClr val="162032"/>
          </a:solidFill>
          <a:ln w="12700">
            <a:solidFill>
              <a:srgbClr val="7B2FBE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4" name="Text 20"/>
          <p:cNvSpPr/>
          <p:nvPr/>
        </p:nvSpPr>
        <p:spPr>
          <a:xfrm>
            <a:off x="4681728" y="337413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YSA Yorum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4681728" y="3730752"/>
            <a:ext cx="411480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Early Stopping 18. epoch'ta devreye girdi (val_loss izledi)
• Eğitim ve doğrulama eğrileri birbirine yakın → Overfitting yok
• AUC 0.9231: Optimize RF'nin 0.9382 değerinin altında ama güçlü
• Dropout (%30) + Early Stopping: aşırı öğrenmeyi başarıyla önledi
• Doğrulama doğruluğunun başından itibaren daha yüksek seyretmesi: </a:t>
            </a:r>
            <a:r>
              <a:rPr lang="en-US" sz="1000" i="1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ile dengelenmiş eğitim verisinin yapısal farklılığından kaynaklanıyor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8412480" y="491947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3</a:t>
            </a:r>
            <a:r>
              <a:rPr lang="tr-TR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pic>
        <p:nvPicPr>
          <p:cNvPr id="27" name="Resim 26">
            <a:extLst>
              <a:ext uri="{FF2B5EF4-FFF2-40B4-BE49-F238E27FC236}">
                <a16:creationId xmlns:a16="http://schemas.microsoft.com/office/drawing/2014/main" id="{3BAAD9B6-84C6-A5CB-DB32-78CE4BA1ADA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1410" y="1462488"/>
            <a:ext cx="2198619" cy="1651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Resim 27">
            <a:extLst>
              <a:ext uri="{FF2B5EF4-FFF2-40B4-BE49-F238E27FC236}">
                <a16:creationId xmlns:a16="http://schemas.microsoft.com/office/drawing/2014/main" id="{31FD25FD-30CC-258D-B713-930C8B73568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8850" y="1517904"/>
            <a:ext cx="2039282" cy="1542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Resim 28">
            <a:extLst>
              <a:ext uri="{FF2B5EF4-FFF2-40B4-BE49-F238E27FC236}">
                <a16:creationId xmlns:a16="http://schemas.microsoft.com/office/drawing/2014/main" id="{7FB01BF3-5B29-CA3E-1AC8-69EF1CD6D7F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005" y="1152983"/>
            <a:ext cx="3820737" cy="19277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2438"/>
          </a:solidFill>
          <a:ln w="12700">
            <a:solidFill>
              <a:srgbClr val="14243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365760" y="1828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3.8–3.9  Gözetimsiz &amp; PCA Bulguları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/ Dendrogram  |  PCA </a:t>
            </a:r>
            <a:r>
              <a:rPr lang="en-US" sz="1100" dirty="0" err="1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Varyans</a:t>
            </a:r>
            <a:r>
              <a:rPr lang="en-US" sz="11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3931920" cy="4041648"/>
          </a:xfrm>
          <a:prstGeom prst="rect">
            <a:avLst/>
          </a:prstGeom>
          <a:solidFill>
            <a:srgbClr val="162032"/>
          </a:solidFill>
          <a:ln w="12700">
            <a:solidFill>
              <a:srgbClr val="6B9EC0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384048" y="116128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  Gözetimsiz </a:t>
            </a:r>
            <a:r>
              <a:rPr lang="en-US" sz="1100" b="1" dirty="0" err="1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Öğrenme</a:t>
            </a:r>
            <a:r>
              <a:rPr lang="en-US" sz="1100" b="1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" y="3401568"/>
            <a:ext cx="36576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K-Means: </a:t>
            </a:r>
            <a:r>
              <a:rPr lang="en-US" sz="10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Dirsek grafiğinde belirgin nokta yok → verinin küresel kümeler oluşturmadığı
</a:t>
            </a: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Hiyerarşik: </a:t>
            </a:r>
            <a:r>
              <a:rPr lang="en-US" sz="10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yöntemi ile dendrogram oluşturuldu. En üst birleşme ≈ 105 Öklid uzaklığı
</a:t>
            </a:r>
            <a:r>
              <a:rPr lang="en-US" sz="1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Sonuç: </a:t>
            </a:r>
            <a:r>
              <a:rPr lang="en-US" sz="10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Uzay sinyalleri özellik uzayında iç içe geçmiş → Gözetimsiz yetersiz → Gözetimli zorunlu!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0" y="1078992"/>
            <a:ext cx="4572000" cy="4041648"/>
          </a:xfrm>
          <a:prstGeom prst="rect">
            <a:avLst/>
          </a:prstGeom>
          <a:solidFill>
            <a:srgbClr val="162032"/>
          </a:solidFill>
          <a:ln w="1270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4498848" y="1092708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  PCA Boyut </a:t>
            </a:r>
            <a:r>
              <a:rPr lang="en-US" sz="1100" b="1" dirty="0" err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İndirgeme</a:t>
            </a: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498848" y="3218688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Orijinal</a:t>
            </a: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(10D) vs PCA (7D, %95) Model Doğrulukları: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498848" y="4956048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3 boyut azalmasına rağmen performans neredeyse korundu → yüksek korelasyon bilgi tekrarı doğrulandı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8412480" y="491947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3</a:t>
            </a:r>
            <a:r>
              <a:rPr lang="tr-TR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pic>
        <p:nvPicPr>
          <p:cNvPr id="17" name="Resim 16">
            <a:extLst>
              <a:ext uri="{FF2B5EF4-FFF2-40B4-BE49-F238E27FC236}">
                <a16:creationId xmlns:a16="http://schemas.microsoft.com/office/drawing/2014/main" id="{0672FD65-21EC-E66B-F0C3-1FB6F4C162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262" y="1463767"/>
            <a:ext cx="3828677" cy="1708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Resim 19">
            <a:extLst>
              <a:ext uri="{FF2B5EF4-FFF2-40B4-BE49-F238E27FC236}">
                <a16:creationId xmlns:a16="http://schemas.microsoft.com/office/drawing/2014/main" id="{7337FD69-2592-8751-F060-EEF68C6726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0520" y="1402808"/>
            <a:ext cx="4316007" cy="1815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Resim 21">
            <a:extLst>
              <a:ext uri="{FF2B5EF4-FFF2-40B4-BE49-F238E27FC236}">
                <a16:creationId xmlns:a16="http://schemas.microsoft.com/office/drawing/2014/main" id="{B4CE8861-770D-DB2F-28FD-B3AA68EF6B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7470" y="3511296"/>
            <a:ext cx="4335300" cy="126199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2438"/>
          </a:solidFill>
          <a:ln w="12700">
            <a:solidFill>
              <a:srgbClr val="14243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365760" y="1828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3.10  Genel Model Karşılaştırması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 err="1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</a:t>
            </a:r>
            <a:r>
              <a:rPr lang="en-US" sz="11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Modeller  |  </a:t>
            </a:r>
            <a:r>
              <a:rPr lang="en-US" sz="1100" dirty="0" err="1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Literatür</a:t>
            </a:r>
            <a:r>
              <a:rPr lang="en-US" sz="11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ile Karşılaştırma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07899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</a:t>
            </a: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Modellerin Nihai Performans Özeti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0" y="1078992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Literatür ile Kapsamlı Karşılaştırma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8412480" y="491947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3</a:t>
            </a:r>
            <a:r>
              <a:rPr lang="tr-TR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pic>
        <p:nvPicPr>
          <p:cNvPr id="13" name="Resim 12">
            <a:extLst>
              <a:ext uri="{FF2B5EF4-FFF2-40B4-BE49-F238E27FC236}">
                <a16:creationId xmlns:a16="http://schemas.microsoft.com/office/drawing/2014/main" id="{7C5E7CA0-3B12-A1CC-1FFF-D1F6418F03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787" y="1391055"/>
            <a:ext cx="3882380" cy="3158086"/>
          </a:xfrm>
          <a:prstGeom prst="rect">
            <a:avLst/>
          </a:prstGeom>
        </p:spPr>
      </p:pic>
      <p:pic>
        <p:nvPicPr>
          <p:cNvPr id="17" name="Resim 16">
            <a:extLst>
              <a:ext uri="{FF2B5EF4-FFF2-40B4-BE49-F238E27FC236}">
                <a16:creationId xmlns:a16="http://schemas.microsoft.com/office/drawing/2014/main" id="{032FFD02-FFEE-AC39-C1F3-59C0A71DFB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329" y="1307592"/>
            <a:ext cx="3882379" cy="3701249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2438"/>
          </a:solidFill>
          <a:ln w="12700">
            <a:solidFill>
              <a:srgbClr val="14243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1828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SONUÇ VE ÖNERİLER  —  Temel Bulgular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Çalışma boyunca elde edilen anahtar çıktılar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4206240" cy="1170432"/>
          </a:xfrm>
          <a:prstGeom prst="rect">
            <a:avLst/>
          </a:prstGeom>
          <a:solidFill>
            <a:srgbClr val="162032"/>
          </a:solidFill>
          <a:ln w="12700">
            <a:solidFill>
              <a:srgbClr val="FFB703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 dirty="0"/>
          </a:p>
        </p:txBody>
      </p:sp>
      <p:sp>
        <p:nvSpPr>
          <p:cNvPr id="7" name="Shape 5"/>
          <p:cNvSpPr/>
          <p:nvPr/>
        </p:nvSpPr>
        <p:spPr>
          <a:xfrm>
            <a:off x="274320" y="1115568"/>
            <a:ext cx="502920" cy="11704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274320" y="1115568"/>
            <a:ext cx="5029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50392" y="120700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İyi Model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0392" y="1536192"/>
            <a:ext cx="35204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Rastgele Orman: %88.59 test doğruluğu, ROC-AUC 0.9382. SMOTE Pipeline + hiperparametre optimizasyonu ile elde edildi. Yanlış Negatif: 220 (gerçek Gama sinyali kaçırılmıyor).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115568"/>
            <a:ext cx="4206240" cy="1170432"/>
          </a:xfrm>
          <a:prstGeom prst="rect">
            <a:avLst/>
          </a:prstGeom>
          <a:solidFill>
            <a:srgbClr val="162032"/>
          </a:solidFill>
          <a:ln w="12700">
            <a:solidFill>
              <a:srgbClr val="06D6A0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4709160" y="1115568"/>
            <a:ext cx="502920" cy="11704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4709160" y="1115568"/>
            <a:ext cx="5029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285232" y="120700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Pipeline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85232" y="1536192"/>
            <a:ext cx="35204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sızıntısını (data leakage) kesin olarak önledi. Hadron recall'ı 3 farklı modelde ölçülebilir biçimde iyileşti. Pipeline içi entegrasyon kritik metodolojik katkıdır.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377440"/>
            <a:ext cx="4206240" cy="1170432"/>
          </a:xfrm>
          <a:prstGeom prst="rect">
            <a:avLst/>
          </a:prstGeom>
          <a:solidFill>
            <a:srgbClr val="162032"/>
          </a:solidFill>
          <a:ln w="12700">
            <a:solidFill>
              <a:srgbClr val="7B2FBE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274320" y="2377440"/>
            <a:ext cx="502920" cy="117043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274320" y="2377440"/>
            <a:ext cx="5029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50392" y="246888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Sinir Ağı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0392" y="2798064"/>
            <a:ext cx="35204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epoch'ta Early Stopping. AUC: 0.9231. Dropout + Early Stopping overfitting'i başarıyla engelledi. Rekabetçi performans ancak RF'nin altında.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09160" y="2377440"/>
            <a:ext cx="4206240" cy="1170432"/>
          </a:xfrm>
          <a:prstGeom prst="rect">
            <a:avLst/>
          </a:prstGeom>
          <a:solidFill>
            <a:srgbClr val="162032"/>
          </a:solidFill>
          <a:ln w="1270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4709160" y="2377440"/>
            <a:ext cx="502920" cy="1170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4709160" y="2377440"/>
            <a:ext cx="5029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285232" y="246888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Boyut İndirgeme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85232" y="2798064"/>
            <a:ext cx="35204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10D → 7D (%95 bilgi korundu). Marjinal performans kaybı. Yüksek korelasyon nedeniyle bazı değişkenlerin bilgiyi tekrar ettiği doğrulandı.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3639312"/>
            <a:ext cx="4206240" cy="1170432"/>
          </a:xfrm>
          <a:prstGeom prst="rect">
            <a:avLst/>
          </a:prstGeom>
          <a:solidFill>
            <a:srgbClr val="162032"/>
          </a:solidFill>
          <a:ln w="12700">
            <a:solidFill>
              <a:srgbClr val="EF233C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7" name="Shape 25"/>
          <p:cNvSpPr/>
          <p:nvPr/>
        </p:nvSpPr>
        <p:spPr>
          <a:xfrm>
            <a:off x="274320" y="3639312"/>
            <a:ext cx="502920" cy="1170432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274320" y="3639312"/>
            <a:ext cx="5029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50392" y="373075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Gözetimsiz Öğrenme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50392" y="4059936"/>
            <a:ext cx="35204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ARI: 0.0076 ≈ 0. Uzay sinyalleri doğrusal/küresel kümeler oluşturmuyor. Bu veri seti için gözetimli öğrenme zorunluluğu kanıtlandı.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9160" y="3639312"/>
            <a:ext cx="4206240" cy="1170432"/>
          </a:xfrm>
          <a:prstGeom prst="rect">
            <a:avLst/>
          </a:prstGeom>
          <a:solidFill>
            <a:srgbClr val="162032"/>
          </a:solidFill>
          <a:ln w="12700">
            <a:solidFill>
              <a:srgbClr val="FFF176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2" name="Shape 30"/>
          <p:cNvSpPr/>
          <p:nvPr/>
        </p:nvSpPr>
        <p:spPr>
          <a:xfrm>
            <a:off x="4709160" y="3639312"/>
            <a:ext cx="502920" cy="1170432"/>
          </a:xfrm>
          <a:prstGeom prst="rect">
            <a:avLst/>
          </a:prstGeom>
          <a:solidFill>
            <a:srgbClr val="FFF176"/>
          </a:solidFill>
          <a:ln w="12700">
            <a:solidFill>
              <a:srgbClr val="FFF17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4709160" y="3639312"/>
            <a:ext cx="5029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285232" y="373075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Açıklanabilirlik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285232" y="4059936"/>
            <a:ext cx="35204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fAlpha birinci sıra (~0.27). Düşük fAlpha → Gama (fiziksel olarak anlamlı: gerçek Gamma olaylarında açı düşük, Hadron'da rastgele). fM3Trans en düşük katkı.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412480" y="491947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37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365760" y="1828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SONUÇ  —  Literatür ile Karşılaştırma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Projemizin sonuçları ne kadar rekabetçi?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3646869304"/>
              </p:ext>
            </p:extLst>
          </p:nvPr>
        </p:nvGraphicFramePr>
        <p:xfrm>
          <a:off x="274320" y="1115568"/>
          <a:ext cx="85953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407408"/>
            <a:ext cx="8595360" cy="749808"/>
          </a:xfrm>
          <a:prstGeom prst="rect">
            <a:avLst/>
          </a:prstGeom>
          <a:solidFill>
            <a:srgbClr val="162032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5"/>
          <p:cNvSpPr/>
          <p:nvPr/>
        </p:nvSpPr>
        <p:spPr>
          <a:xfrm>
            <a:off x="457200" y="446227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 Optimize RF'miz (%88.59) → Literatürdeki standart RF (%87.29) ve AdaBoost (%87.09) geride bırakıldı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57200" y="479145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Derin LSTM'in (%88.71) başarısına klasik ML yöntemiyle neredeyse ulaşıldı — Lustosa &amp; Menzies'in öngörüsü doğrulandı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754880" y="446227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Karar Ağacı (%81.60) ↔ Bhandari (%82.00) — birebir örtüşme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754880" y="479145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Naive Bayes (%72.98) ↔ Acevedo (%71.00) — korelasyon ihlali etkisi her iki çalışmada da gözlemlendi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412480" y="491947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37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2438"/>
          </a:solidFill>
          <a:ln w="12700">
            <a:solidFill>
              <a:srgbClr val="14243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365760" y="1828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SONUÇ  —  Gelecek Çalışmalar İçin Öneriler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Literatürü daha da ileriye taşıyabilecek araştırma potansiyelleri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4206240" cy="1170432"/>
          </a:xfrm>
          <a:prstGeom prst="rect">
            <a:avLst/>
          </a:prstGeom>
          <a:solidFill>
            <a:srgbClr val="162032"/>
          </a:solidFill>
          <a:ln w="12700">
            <a:solidFill>
              <a:srgbClr val="06D6A0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274320" y="1115568"/>
            <a:ext cx="502920" cy="11704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274320" y="1115568"/>
            <a:ext cx="5029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50392" y="120700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ÖNERİ 1: Alternatif Sentetik Örnekleme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0392" y="1536192"/>
            <a:ext cx="35204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çalışmada yalnızca klasik SMOTE kullanıldı. ADASYN veya karar sınırlarına odaklanan BorderlineSMOTE gibi alternatif yöntemlerin karşılaştırmalı testi, azınlık sınıfı tespitinde ek kazanımlar sağlayabilir.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9160" y="1115568"/>
            <a:ext cx="4206240" cy="1170432"/>
          </a:xfrm>
          <a:prstGeom prst="rect">
            <a:avLst/>
          </a:prstGeom>
          <a:solidFill>
            <a:srgbClr val="162032"/>
          </a:solidFill>
          <a:ln w="1270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4709160" y="1115568"/>
            <a:ext cx="502920" cy="1170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4709160" y="1115568"/>
            <a:ext cx="5029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285232" y="120700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ÖNERİ 2: Gerçek MAGIC Teleskop Verisi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85232" y="1536192"/>
            <a:ext cx="35204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veri seti Monte Carlo simülasyonu. Aynı metodoloji ve Pipeline'ın gerçek MAGIC gözlem verileri üzerinde tekrarlanması, modelin saha koşullarındaki güvenilirliği hakkında çok daha net bir tablo sunacaktır.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377440"/>
            <a:ext cx="4206240" cy="1170432"/>
          </a:xfrm>
          <a:prstGeom prst="rect">
            <a:avLst/>
          </a:prstGeom>
          <a:solidFill>
            <a:srgbClr val="162032"/>
          </a:solidFill>
          <a:ln w="12700">
            <a:solidFill>
              <a:srgbClr val="FFB703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274320" y="2377440"/>
            <a:ext cx="502920" cy="11704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274320" y="2377440"/>
            <a:ext cx="5029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50392" y="246888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ÖNERİ 3: XGBoost &amp; LightGBM Entegrasyonu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50392" y="2798064"/>
            <a:ext cx="35204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Gradyan artırma (Gradient Boosting) tabanlı algoritmalar kapsam dışında tutuldu. XGBoost'un aynı veri setinde %88.4 doğruluk sağladığı bildirilmiştir. SMOTE Pipeline'a entegre edilerek mevcut liderle yarıştırılabilir.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09160" y="2377440"/>
            <a:ext cx="4206240" cy="1170432"/>
          </a:xfrm>
          <a:prstGeom prst="rect">
            <a:avLst/>
          </a:prstGeom>
          <a:solidFill>
            <a:srgbClr val="162032"/>
          </a:solidFill>
          <a:ln w="12700">
            <a:solidFill>
              <a:srgbClr val="7B2FBE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4709160" y="2377440"/>
            <a:ext cx="502920" cy="117043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4709160" y="2377440"/>
            <a:ext cx="5029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285232" y="246888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ÖNERİ 4: LIME ile SHAP Karşılaştırması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85232" y="2798064"/>
            <a:ext cx="35204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açıklanabilirliği bu çalışmada TreeExplainer tabanlı SHAP ile sağlandı. LIME gibi farklı yerel XAI yöntemlerinin aynı model üzerinde uygulanarak SHAP bulguları ile kıyaslanması daha zengin perspektif sağlar.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3639312"/>
            <a:ext cx="8595360" cy="1170432"/>
          </a:xfrm>
          <a:prstGeom prst="rect">
            <a:avLst/>
          </a:prstGeom>
          <a:solidFill>
            <a:srgbClr val="162032"/>
          </a:solidFill>
          <a:ln w="12700">
            <a:solidFill>
              <a:srgbClr val="EF233C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7" name="Shape 25"/>
          <p:cNvSpPr/>
          <p:nvPr/>
        </p:nvSpPr>
        <p:spPr>
          <a:xfrm>
            <a:off x="274320" y="3639312"/>
            <a:ext cx="502920" cy="1170432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274320" y="3639312"/>
            <a:ext cx="5029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50392" y="37307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ÖNERİ 5: CTLearn — Ham Görüntü Tabanlı DL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50392" y="4059936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CTLearn gibi görüntü tabanlı derin öğrenme altyapılarının doğrudan ham kamera görüntülerini işlemesiyle, Hillas parametrelerine dayanan klasik parametrik yaklaşımın kıyaslanması değerli bilimsel katkı sunabilir.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412480" y="491947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37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42438"/>
          </a:solidFill>
          <a:ln w="12700">
            <a:solidFill>
              <a:srgbClr val="14243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365760" y="1828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KAYNAKÇA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temel referans — MAGIC Gamma Telescope araştırma çalışmaları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115568"/>
            <a:ext cx="38404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11556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Y. Ohtani &amp; MAGIC Collab. (2021)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85800" y="1371600"/>
            <a:ext cx="39776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Cross-calibration and combined analysis of CTA-LST &amp; MAGIC telescopes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554480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(ICRC2021) 0724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74320" y="1755648"/>
            <a:ext cx="38404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175564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Karthick vd. (2024)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85800" y="2011680"/>
            <a:ext cx="39776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of High Energy Gamma Particles using Deep Learning Approach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85800" y="2194560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Access 10.1109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74320" y="2395728"/>
            <a:ext cx="38404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239572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E.A. Mattar &amp; S.K. Towfek (2026)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85800" y="2651760"/>
            <a:ext cx="39776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Enhancing Gamma-Hadron Separation using Attention-Guided DL and ABGGO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85800" y="2834640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Artificial Intelligence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74320" y="3035808"/>
            <a:ext cx="38404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" y="303580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Bhandari &amp; G. Adhikari (2024)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85800" y="3291840"/>
            <a:ext cx="39776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Tree Analysis on MAGIC Gamma Telescope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85800" y="3474720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IOE Proceedings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74320" y="3675888"/>
            <a:ext cx="38404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367588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Anitha vd. (2024)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85800" y="3931920"/>
            <a:ext cx="39776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Enhancing Gamma Particle Prediction through Machine Learning Techniques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85800" y="4114800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IJARST 2024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74320" y="4315968"/>
            <a:ext cx="38404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5800" y="431596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Lustosa &amp; T. Menzies (2025)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85800" y="4572000"/>
            <a:ext cx="39776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Noise, More Signal: DRR for Better Optimizations of SE Tasks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85800" y="4754880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2025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846320" y="1115568"/>
            <a:ext cx="38404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257800" y="111556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Miener vd. (2022)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257800" y="1371600"/>
            <a:ext cx="39776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of MAGIC telescopes using deep CNNs with CTLearn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257800" y="1554480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arXiv:2211.16009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846320" y="1755648"/>
            <a:ext cx="38404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257800" y="175564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Jashwanth S. vd. (2022)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257800" y="2011680"/>
            <a:ext cx="39776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Gamma-Hadron Separation using Quantum Classifiers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257800" y="2194560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arXiv:2210.03771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846320" y="2395728"/>
            <a:ext cx="38404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257800" y="239572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Diler &amp; Y. Demir (2024)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257800" y="2651760"/>
            <a:ext cx="39776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Çoklu Doğrusal Bağlantı Durumunda Veri Madenciliği Performansları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257800" y="2834640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Nicel Bilimler Dergisi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846320" y="3035808"/>
            <a:ext cx="4114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257800" y="303580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V.A. Acciari &amp; MAGIC Collab. (2020)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257800" y="3291840"/>
            <a:ext cx="39776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Studying the nature of HESS J1841-055 with MAGIC telescopes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257800" y="3474720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2020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846320" y="3675888"/>
            <a:ext cx="4114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257800" y="367588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Acevedo (2023)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257800" y="3931920"/>
            <a:ext cx="39776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Energy Gamma: SVM vs Naive Bayes Classification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257800" y="4114800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Dev Environment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74320" y="4983480"/>
            <a:ext cx="8595360" cy="164592"/>
          </a:xfrm>
          <a:prstGeom prst="rect">
            <a:avLst/>
          </a:prstGeom>
          <a:solidFill>
            <a:srgbClr val="0A1520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1" name="Text 49"/>
          <p:cNvSpPr/>
          <p:nvPr/>
        </p:nvSpPr>
        <p:spPr>
          <a:xfrm>
            <a:off x="384048" y="4992624"/>
            <a:ext cx="8321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Seti: UCI ML Repository — MAGIC Gamma Telescope  |  Frank, A. &amp; Asuncion, A. (2010)  |  doi: 10.24432/C52C8B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412480" y="491947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37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5001</Words>
  <Application>Microsoft Office PowerPoint</Application>
  <PresentationFormat>Ekran Gösterisi (16:9)</PresentationFormat>
  <Paragraphs>796</Paragraphs>
  <Slides>37</Slides>
  <Notes>37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37</vt:i4>
      </vt:variant>
    </vt:vector>
  </HeadingPairs>
  <TitlesOfParts>
    <vt:vector size="41" baseType="lpstr">
      <vt:lpstr>Arial</vt:lpstr>
      <vt:lpstr>Calibri</vt:lpstr>
      <vt:lpstr>Consolas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MAGIC Gamma Telescope — Gama-Hadron Sınıflandırması</dc:title>
  <dc:subject>PptxGenJS Presentation</dc:subject>
  <dc:creator>PptxGenJS</dc:creator>
  <cp:lastModifiedBy>Elif Kınalı</cp:lastModifiedBy>
  <cp:revision>3</cp:revision>
  <dcterms:created xsi:type="dcterms:W3CDTF">2026-05-02T10:09:23Z</dcterms:created>
  <dcterms:modified xsi:type="dcterms:W3CDTF">2026-05-03T13:23:16Z</dcterms:modified>
</cp:coreProperties>
</file>