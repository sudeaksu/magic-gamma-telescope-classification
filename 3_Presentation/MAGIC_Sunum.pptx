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60" r:id="rId5"/>
    <p:sldId id="290" r:id="rId6"/>
    <p:sldId id="262" r:id="rId7"/>
    <p:sldId id="291" r:id="rId8"/>
    <p:sldId id="264" r:id="rId9"/>
    <p:sldId id="287" r:id="rId10"/>
    <p:sldId id="265" r:id="rId11"/>
    <p:sldId id="266" r:id="rId12"/>
    <p:sldId id="267" r:id="rId13"/>
    <p:sldId id="292" r:id="rId14"/>
    <p:sldId id="269" r:id="rId15"/>
    <p:sldId id="270" r:id="rId16"/>
    <p:sldId id="293" r:id="rId17"/>
    <p:sldId id="294" r:id="rId18"/>
    <p:sldId id="273" r:id="rId19"/>
    <p:sldId id="274" r:id="rId20"/>
    <p:sldId id="275" r:id="rId21"/>
    <p:sldId id="276" r:id="rId22"/>
    <p:sldId id="295" r:id="rId23"/>
    <p:sldId id="288" r:id="rId24"/>
    <p:sldId id="279" r:id="rId25"/>
    <p:sldId id="280" r:id="rId26"/>
    <p:sldId id="289" r:id="rId27"/>
    <p:sldId id="296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96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67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3774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237744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PROJESİ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Gama-Hadron Sınıflandırması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Öğrenmesi ve Derin Öğrenme Yöntemleriyle MAGIC Atmosferik Çerenkov Teleskop Verisi Analizi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 Aksu  •  Elif Kınalı  |  Gazi Üniversitesi, Bilgisayar Mühendisliği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60604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4114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Gözlem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14600" y="260604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25146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1460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Özellik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260604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46177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%88.59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Doğruluk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20840" y="260604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Text 16"/>
          <p:cNvSpPr/>
          <p:nvPr/>
        </p:nvSpPr>
        <p:spPr>
          <a:xfrm>
            <a:off x="67208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(Optimize RF)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ÇALIŞMANIN KISA ÖZETİ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yaptık? Neden yaptık? Ne bulduk?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1207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44475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Atmosferik Çerenkov teleskoplarıyla kaydedilen gama ışınlarını,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 plan gürültüsü oluşturan hadron sinyallerinden ayırt etmek.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09728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4800600" y="1097280"/>
            <a:ext cx="45720" cy="12070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910328" y="11612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10328" y="144475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ML Repository: 19.020 gözlem, 10 sayısal Hillas parametresi.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12.332 Gama — 6.688 Hadron. Sınıf dengesizliği 1,84:1.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42316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28600" y="2423160"/>
            <a:ext cx="45720" cy="1207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38328" y="24871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Metodoloji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" y="277063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%80/%20 Stratified Split → StandardScaler → SMOTE Pipeline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7 model (LR, k-NN, 2×KA, RF, NB, YSA) → 5-Fold CV → SHAP.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0600" y="242316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4800600" y="2423160"/>
            <a:ext cx="45720" cy="1207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4910328" y="24871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Özgün Katkılar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10328" y="277063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Pipeline entegrasyonu (data leakage önleme),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hiperparametre optimizasyonu, SHAP açıklanabilir YZ, PCA analizi.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74904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28600" y="3749040"/>
            <a:ext cx="45720" cy="1207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38328" y="38130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İyi Sonuç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" y="409651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Rastgele Orman: %88,59 doğruluk, ROC-AUC 0,9382.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kararları SHAP ile küresel ve yerel düzeyde yorumlandı.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0600" y="3749040"/>
            <a:ext cx="4297680" cy="1207008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4800600" y="3749040"/>
            <a:ext cx="45720" cy="1207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4910328" y="38130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Gözetimsiz Öğrenme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10328" y="4096512"/>
            <a:ext cx="41330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ARI: 0,0076 ≈ 0 → Karmaşık uzay verisi için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gözetimsiz yöntemlerin yetersiz olduğu deneysel olarak kanıtlandı.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8016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GİRİŞ —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Problemin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Tanımı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bu problem önemli?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2560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862FA72C-C0E0-649C-C6C8-95546AE5486B}"/>
              </a:ext>
            </a:extLst>
          </p:cNvPr>
          <p:cNvSpPr txBox="1"/>
          <p:nvPr/>
        </p:nvSpPr>
        <p:spPr>
          <a:xfrm>
            <a:off x="875833" y="3123462"/>
            <a:ext cx="822244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tr-TR" sz="1100" dirty="0">
              <a:solidFill>
                <a:schemeClr val="bg1"/>
              </a:solidFill>
            </a:endParaRPr>
          </a:p>
          <a:p>
            <a:endParaRPr lang="tr-TR" sz="1100" dirty="0">
              <a:solidFill>
                <a:schemeClr val="bg1"/>
              </a:solidFill>
            </a:endParaRPr>
          </a:p>
          <a:p>
            <a:endParaRPr lang="tr-TR" sz="1100" dirty="0">
              <a:solidFill>
                <a:schemeClr val="bg1"/>
              </a:solidFill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D21F350-3DCA-37AD-A07E-DE3615F50B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991" y="1245926"/>
            <a:ext cx="8610289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Kozmik Işınların Kaynağını Saptama Zorluğu: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Yüksek enerjili kozmik ışınların evrendeki kökenini belirlemek, modern astrofizik araştırmalarının en zorlu ve kritik problemlerinden birini oluşturmaktadır.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1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1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Teleskopların Veri Üretim Mekanizması: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Atmosferik </a:t>
            </a:r>
            <a:r>
              <a:rPr kumimoji="0" lang="tr-TR" altLang="tr-TR" sz="11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Çerenkov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teleskopları (MAGIC), uzaydan atmosfere giriş yapan parçacıkların yarattığı anlık ışık izlerini yakalayarak sürekli ve devasa boyutta veri üretmektedir.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1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1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Sinyal ve Gürültü Problemi (Sınıf Dengesizliği):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Teleskop kameralarına düşen bu sinyallerin büyük bir çoğunluğu hedeflenen gerçek "gama" ışınları değil; aksine kozmik arka plan gürültüsünü oluşturan "</a:t>
            </a:r>
            <a:r>
              <a:rPr kumimoji="0" lang="tr-TR" altLang="tr-TR" sz="11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hadron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" kaynaklı olaylardır.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1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Zaman ve Operasyonel Verimsizlik: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Bu yoğun gürültü manuel yöntemlerle izole edilemediğinden, oldukça değerli ve maliyetli olan teleskop gözlem süreleri büyük oranda verimsiz kullanılmaktadır.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1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Bilimsel Güvenilirlik Riski: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Hadron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gürültüsünün gama sinyalleriyle iç içe geçmesi, toplanan veriler üzerinden yapılacak bilimsel analizlerin güvenilirliğini ve doğruluğunu doğrudan olumsuz etkilemektedir.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tr-TR" altLang="tr-TR" sz="11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1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1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Yapay Zeka ile Çözüm İhtiyacı: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Bu karmaşık fiziksel problemi çözmek ve gerçek gama olaylarını gürültüden yüksek hassasiyetle ayırabilmek amacıyla, optimize edilmiş makine öğrenmesi ve derin öğrenme modellerine kesin bir ihtiyaç duyulmaktadır.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19202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1645920"/>
            <a:ext cx="10972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332792" y="1239043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5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Materyal ve Yöntem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Veri Seti — MAGIC Gamma Telescope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Machine Learning Repository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8046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521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3990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Veri setimiz, makine öğrenmesi dünyasında otorite kabul edilen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UCI Machine Learning </a:t>
            </a:r>
            <a:r>
              <a:rPr lang="tr-TR" sz="1100" b="1" dirty="0" err="1">
                <a:solidFill>
                  <a:schemeClr val="bg2">
                    <a:lumMod val="90000"/>
                  </a:schemeClr>
                </a:solidFill>
              </a:rPr>
              <a:t>Repository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üzerinden alınmıştır.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800600" y="10972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11" name="Shape 9"/>
          <p:cNvSpPr/>
          <p:nvPr/>
        </p:nvSpPr>
        <p:spPr>
          <a:xfrm>
            <a:off x="4800600" y="1097280"/>
            <a:ext cx="45720" cy="8046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892040" y="10789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Yöntemi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92040" y="1353312"/>
            <a:ext cx="4251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Gözlemler, gerçek gökyüzü verileri yerine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CORSIKA Monte Carlo simülasyonu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ile üretilmiştir. Bunun temel sebebi, gerçek atmosferik olaylarda hangi sinyalin kesinlikle 'Gama' olduğunu hatasız bir şekilde etiketlemek zordur.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20116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28600" y="2011680"/>
            <a:ext cx="45720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38328" y="20665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Gözlem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" y="23134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Toplamda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19.020 gözlemimiz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(satır) bulunuyor, bu da modelin genelleme yapabilmesi için oldukça yeterli bir örnektir.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00600" y="20116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4800600" y="2011680"/>
            <a:ext cx="45720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4910328" y="20665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 Değişken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10328" y="23134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Bağımsız değişken olarak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10 farklı sayısal özelliğimiz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var. Bunlar literatürde </a:t>
            </a:r>
            <a:r>
              <a:rPr lang="tr-TR" sz="1100" b="1" dirty="0" err="1">
                <a:solidFill>
                  <a:schemeClr val="bg2">
                    <a:lumMod val="90000"/>
                  </a:schemeClr>
                </a:solidFill>
              </a:rPr>
              <a:t>Hillas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 Parametreleri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olarak geçer ve teleskobun kamerasında oluşan eliptik ışık izlerinin geometrik formunu temsil eder.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28600" y="29260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28600" y="2926080"/>
            <a:ext cx="45720" cy="80467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38328" y="29809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Değişken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" y="32278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Modelimizin amacı, bu geometrik özellikleri kullanarak sinyali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Gama (1)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ışını veya arka plan gürültüsü olan </a:t>
            </a:r>
            <a:r>
              <a:rPr lang="tr-TR" sz="1100" b="1" dirty="0" err="1">
                <a:solidFill>
                  <a:schemeClr val="bg2">
                    <a:lumMod val="90000"/>
                  </a:schemeClr>
                </a:solidFill>
              </a:rPr>
              <a:t>Hadron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 (0)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olarak doğru sınıflandırmaktır.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800600" y="29260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4800600" y="2926080"/>
            <a:ext cx="45720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4910328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 Değer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10328" y="32278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00" dirty="0">
                <a:solidFill>
                  <a:schemeClr val="bg2">
                    <a:lumMod val="90000"/>
                  </a:schemeClr>
                </a:solidFill>
              </a:rPr>
              <a:t>En büyük avantajımız, veri setinde hiç </a:t>
            </a:r>
            <a:r>
              <a:rPr lang="tr-TR" sz="1000" b="1" dirty="0">
                <a:solidFill>
                  <a:schemeClr val="bg2">
                    <a:lumMod val="90000"/>
                  </a:schemeClr>
                </a:solidFill>
              </a:rPr>
              <a:t>eksik değer (</a:t>
            </a:r>
            <a:r>
              <a:rPr lang="tr-TR" sz="1000" b="1" dirty="0" err="1">
                <a:solidFill>
                  <a:schemeClr val="bg2">
                    <a:lumMod val="90000"/>
                  </a:schemeClr>
                </a:solidFill>
              </a:rPr>
              <a:t>Missing</a:t>
            </a:r>
            <a:r>
              <a:rPr lang="tr-TR" sz="1000" b="1" dirty="0">
                <a:solidFill>
                  <a:schemeClr val="bg2">
                    <a:lumMod val="90000"/>
                  </a:schemeClr>
                </a:solidFill>
              </a:rPr>
              <a:t> Value) bulunmamasıdır</a:t>
            </a:r>
            <a:r>
              <a:rPr lang="tr-TR" sz="1000" dirty="0">
                <a:solidFill>
                  <a:schemeClr val="bg2">
                    <a:lumMod val="90000"/>
                  </a:schemeClr>
                </a:solidFill>
              </a:rPr>
              <a:t>. Bu durum, verinin 'temiz' olduğunu ve ön işleme aşamasında herhangi bir değer atama (</a:t>
            </a:r>
            <a:r>
              <a:rPr lang="tr-TR" sz="1000" dirty="0" err="1">
                <a:solidFill>
                  <a:schemeClr val="bg2">
                    <a:lumMod val="90000"/>
                  </a:schemeClr>
                </a:solidFill>
              </a:rPr>
              <a:t>imputation</a:t>
            </a:r>
            <a:r>
              <a:rPr lang="tr-TR" sz="1000" dirty="0">
                <a:solidFill>
                  <a:schemeClr val="bg2">
                    <a:lumMod val="90000"/>
                  </a:schemeClr>
                </a:solidFill>
              </a:rPr>
              <a:t>) işlemi yapmamıza gerek kalmadığını gösteriyor.</a:t>
            </a:r>
            <a:endParaRPr lang="en-US" sz="10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28600" y="38404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228600" y="3840480"/>
            <a:ext cx="45720" cy="8046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Text 30"/>
          <p:cNvSpPr/>
          <p:nvPr/>
        </p:nvSpPr>
        <p:spPr>
          <a:xfrm>
            <a:off x="338328" y="38953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Dengesizliği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38328" y="4142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Sınıf dağılımına baktığımızda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1,84:1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oranında bir dengesizlik vardır (12.332 Gama'ya karşı 6.688 </a:t>
            </a:r>
            <a:r>
              <a:rPr lang="tr-TR" sz="1100" dirty="0" err="1">
                <a:solidFill>
                  <a:schemeClr val="bg2">
                    <a:lumMod val="90000"/>
                  </a:schemeClr>
                </a:solidFill>
              </a:rPr>
              <a:t>Hadron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).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800600" y="3840480"/>
            <a:ext cx="4297680" cy="8046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5" name="Shape 33"/>
          <p:cNvSpPr/>
          <p:nvPr/>
        </p:nvSpPr>
        <p:spPr>
          <a:xfrm>
            <a:off x="4800600" y="3840480"/>
            <a:ext cx="45720" cy="8046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Text 34"/>
          <p:cNvSpPr/>
          <p:nvPr/>
        </p:nvSpPr>
        <p:spPr>
          <a:xfrm>
            <a:off x="4910328" y="38587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00" dirty="0">
                <a:solidFill>
                  <a:srgbClr val="00B4D8"/>
                </a:solidFill>
              </a:rPr>
              <a:t>Stratejik Yaklaşım:</a:t>
            </a:r>
            <a:endParaRPr lang="en-US" sz="950" dirty="0">
              <a:solidFill>
                <a:srgbClr val="00B4D8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10328" y="4142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Veri setimizdeki </a:t>
            </a:r>
            <a:r>
              <a:rPr lang="tr-TR" sz="1100" dirty="0" err="1">
                <a:solidFill>
                  <a:schemeClr val="bg2">
                    <a:lumMod val="90000"/>
                  </a:schemeClr>
                </a:solidFill>
              </a:rPr>
              <a:t>dengesizlik,modelimizin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çoğunluk sınıfına (Gama) kaymasına neden olabilir. Bu yüzden </a:t>
            </a:r>
            <a:r>
              <a:rPr lang="tr-TR" sz="1100" b="1" dirty="0">
                <a:solidFill>
                  <a:schemeClr val="bg2">
                    <a:lumMod val="90000"/>
                  </a:schemeClr>
                </a:solidFill>
              </a:rPr>
              <a:t>SMOTE</a:t>
            </a:r>
            <a:r>
              <a:rPr lang="tr-TR" sz="1100" dirty="0">
                <a:solidFill>
                  <a:schemeClr val="bg2">
                    <a:lumMod val="90000"/>
                  </a:schemeClr>
                </a:solidFill>
              </a:rPr>
              <a:t> gibi dengeleme tekniklerini kullanmamızın ana motivasyonu bu istatistiktir.</a:t>
            </a:r>
            <a:endParaRPr lang="en-US" sz="11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Hillas Parametreleri — 10 Değişken ve Fiziksel Anlamları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özellik, teleskop kamerasındaki eliptik ışık izinin farklı bir geometrik özelliğini temsil eder.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229600" cy="3886201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fLength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Elipsin ana ekseninin uzunluğu (mm)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fWidth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Elipsin kısa ekseninin uzunluğu (mm)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Tüm piksel yoğunluklarının logaritmik toplamı (toplam enerji)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fConc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parlak 2 pikselin toplam yoğunluğa oranı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fConc1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parlak tek pikselin toplam yoğunluğa oranı  ⚠ fConc ile r=0.98!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fAsym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Uzun eksene göre asimetri ölçüsü (mm)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fM3Long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Uzun eksende üçüncü moment — yoğunluk dağılımı çarpıklığı (mm)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fM3Trans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eksende üçüncü moment (mm) — en düşük katkı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fAlpha 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Görüntü ekseninin kaynak yönüyle yaptığı açı (°) — Gama'da düşük, Hadron'da rastgele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3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Görüntü merkezinin kamera merkezine uzaklığı (mm)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Keşifsel Veri Analizi (EDA)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 ısı haritası ve modellemedeki etkileri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5486400" cy="37490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3749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5321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 Isı Haritasından Öne Çıkan Bulgular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444752"/>
            <a:ext cx="5321808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971800" cy="17373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45720" cy="17373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6053328" y="11612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Uyarısı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3328" y="1444752"/>
            <a:ext cx="280720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fConc–fConc1 arası 0,98 korelasyonu,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bağımsızlık varsayımını doğrudan ihlal ediyor.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modelin düşük performans göstermesi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önceden öngörülmüştür.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0" y="2944368"/>
            <a:ext cx="2971800" cy="17373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5943600" y="2944368"/>
            <a:ext cx="45720" cy="1737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053328" y="300837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Gereksinimi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53328" y="3291840"/>
            <a:ext cx="280720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Değişkenler bilgiyi tekrar ettiğinden,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 indirgeme hem mantıklı hem 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etkili olacaktır. PCA bu zemine dayanır.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55510" y="4472473"/>
            <a:ext cx="8759890" cy="675599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243684" y="4754880"/>
            <a:ext cx="45720" cy="38404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589757" y="4629321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fAlpha Neden Bu Kadar Önemli?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7654" y="4855464"/>
            <a:ext cx="8522208" cy="234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Gama olaylarında görüntü ekseni kaynağa yönelik → fAlpha düşük.  Hadron olaylarında ise rastgele dağılımlı → fAlpha yüksek.  Bu fiziksel fark modelin en güçlü ipucudur.</a:t>
            </a:r>
            <a:endParaRPr lang="en-US" sz="1050" dirty="0"/>
          </a:p>
        </p:txBody>
      </p:sp>
      <p:pic>
        <p:nvPicPr>
          <p:cNvPr id="22" name="Resim 21">
            <a:extLst>
              <a:ext uri="{FF2B5EF4-FFF2-40B4-BE49-F238E27FC236}">
                <a16:creationId xmlns:a16="http://schemas.microsoft.com/office/drawing/2014/main" id="{CD87A18C-C995-8F84-A465-BAC7481A9C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" y="1457492"/>
            <a:ext cx="4564526" cy="3248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Veri Bölme ve Ölçeklendirme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Train-Test Split · StandardScaler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1965960" cy="1234440"/>
          </a:xfrm>
          <a:prstGeom prst="rect">
            <a:avLst/>
          </a:prstGeom>
          <a:solidFill>
            <a:srgbClr val="111E3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27432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Veri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19.020 gözlem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özellik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12848" y="155448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68880" y="1143000"/>
            <a:ext cx="1965960" cy="123444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246888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15544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%80 Eğitim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(Oran korunur)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07408" y="155448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ect">
            <a:avLst/>
          </a:prstGeom>
          <a:solidFill>
            <a:srgbClr val="111E35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466344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Seti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63440" y="15544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15.216 gözlem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oranı korundu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01968" y="155448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858000" y="1143000"/>
            <a:ext cx="1965960" cy="1234440"/>
          </a:xfrm>
          <a:prstGeom prst="rect">
            <a:avLst/>
          </a:prstGeom>
          <a:solidFill>
            <a:srgbClr val="111E35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858000" y="11887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0" y="15544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3.804 gözlem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dokunulmaz!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514600"/>
            <a:ext cx="45720" cy="2468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338328" y="2397003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— Neden ve Nasıl?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" y="2862072"/>
            <a:ext cx="4133088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70420" y="2369147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Stratified Split?</a:t>
            </a:r>
            <a:endParaRPr lang="en-US" sz="1100" dirty="0"/>
          </a:p>
        </p:txBody>
      </p:sp>
      <p:sp>
        <p:nvSpPr>
          <p:cNvPr id="30" name="Metin kutusu 29">
            <a:extLst>
              <a:ext uri="{FF2B5EF4-FFF2-40B4-BE49-F238E27FC236}">
                <a16:creationId xmlns:a16="http://schemas.microsoft.com/office/drawing/2014/main" id="{A1A9E8CF-7620-5B58-09FA-438785B310B2}"/>
              </a:ext>
            </a:extLst>
          </p:cNvPr>
          <p:cNvSpPr txBox="1"/>
          <p:nvPr/>
        </p:nvSpPr>
        <p:spPr>
          <a:xfrm>
            <a:off x="338328" y="2582278"/>
            <a:ext cx="475618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Uygulama Zorunluluğu: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 k-NN gibi uzaklık temelli ve Yapay Sinir Ağları (YSA) gibi gradyan hesaplamalarına duyarlı algoritmaların optimize çalışabilmesi için verilerin standartlaştırılması şarttır. 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altLang="tr-TR" sz="1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Metodolojik Yaklaşım: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 Ölçeklendirme işlemi (</a:t>
            </a:r>
            <a:r>
              <a:rPr lang="tr-TR" altLang="tr-TR" sz="1000" dirty="0">
                <a:solidFill>
                  <a:schemeClr val="bg1"/>
                </a:solidFill>
                <a:latin typeface="Arial Unicode MS"/>
              </a:rPr>
              <a:t>fit</a:t>
            </a:r>
            <a:r>
              <a:rPr lang="tr-TR" altLang="tr-TR" sz="1000" dirty="0">
                <a:solidFill>
                  <a:schemeClr val="bg1"/>
                </a:solidFill>
              </a:rPr>
              <a:t>) yalnızca eğitim seti üzerinde gerçekleştirilmiş; test setine ise sadece bu öğrenilen ölçek üzerinden dönüşüm (</a:t>
            </a:r>
            <a:r>
              <a:rPr lang="tr-TR" altLang="tr-TR" sz="1000" dirty="0" err="1">
                <a:solidFill>
                  <a:schemeClr val="bg1"/>
                </a:solidFill>
                <a:latin typeface="Arial Unicode MS"/>
              </a:rPr>
              <a:t>transform</a:t>
            </a:r>
            <a:r>
              <a:rPr lang="tr-TR" altLang="tr-TR" sz="1000" dirty="0">
                <a:solidFill>
                  <a:schemeClr val="bg1"/>
                </a:solidFill>
              </a:rPr>
              <a:t>) uygulanmıştır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. 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altLang="tr-TR" sz="1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Veri Sızıntısının (Data </a:t>
            </a:r>
            <a:r>
              <a:rPr lang="tr-TR" altLang="tr-TR" sz="1000" b="1" dirty="0" err="1">
                <a:solidFill>
                  <a:schemeClr val="bg1"/>
                </a:solidFill>
                <a:latin typeface="Arial" panose="020B0604020202020204" pitchFamily="34" charset="0"/>
              </a:rPr>
              <a:t>Leakage</a:t>
            </a: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) Önlenmesi: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 Bu katı izolasyon sayesinde test verisine ait istatistiksel bilgilerin eğitim sürecini etkilemesi kesin olarak engellenmiş ve modelin genellenebilirliği güvence altına alınmıştır. 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altLang="tr-TR" sz="1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altLang="tr-TR" sz="1000" b="1" dirty="0" err="1">
                <a:solidFill>
                  <a:schemeClr val="bg1"/>
                </a:solidFill>
                <a:latin typeface="Arial" panose="020B0604020202020204" pitchFamily="34" charset="0"/>
              </a:rPr>
              <a:t>MinMaxScaler</a:t>
            </a: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 Yerine Neden </a:t>
            </a:r>
            <a:r>
              <a:rPr lang="tr-TR" altLang="tr-TR" sz="1000" b="1" dirty="0" err="1">
                <a:solidFill>
                  <a:schemeClr val="bg1"/>
                </a:solidFill>
                <a:latin typeface="Arial" panose="020B0604020202020204" pitchFamily="34" charset="0"/>
              </a:rPr>
              <a:t>StandardScaler</a:t>
            </a:r>
            <a:r>
              <a:rPr lang="tr-TR" altLang="tr-TR" sz="1000" b="1" dirty="0">
                <a:solidFill>
                  <a:schemeClr val="bg1"/>
                </a:solidFill>
                <a:latin typeface="Arial" panose="020B0604020202020204" pitchFamily="34" charset="0"/>
              </a:rPr>
              <a:t>?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 Karmaşık uzay verilerinde yüksek olan aykırı değer (</a:t>
            </a:r>
            <a:r>
              <a:rPr lang="tr-TR" altLang="tr-TR" sz="1000" dirty="0" err="1">
                <a:solidFill>
                  <a:schemeClr val="bg1"/>
                </a:solidFill>
                <a:latin typeface="Arial" panose="020B0604020202020204" pitchFamily="34" charset="0"/>
              </a:rPr>
              <a:t>outlier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) riskine karşı, medyan ve standart sapma kullanan </a:t>
            </a:r>
            <a:r>
              <a:rPr lang="tr-TR" altLang="tr-TR" sz="1000" dirty="0" err="1">
                <a:solidFill>
                  <a:schemeClr val="bg1"/>
                </a:solidFill>
                <a:latin typeface="Arial" panose="020B0604020202020204" pitchFamily="34" charset="0"/>
              </a:rPr>
              <a:t>StandardScaler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</a:rPr>
              <a:t> mimarisi çok daha dirençli bir yapı sunmaktadır.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altLang="tr-TR" sz="1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algn="just"/>
            <a:endParaRPr lang="tr-TR" sz="1000" dirty="0">
              <a:solidFill>
                <a:schemeClr val="bg1"/>
              </a:solidFill>
            </a:endParaRPr>
          </a:p>
        </p:txBody>
      </p:sp>
      <p:sp>
        <p:nvSpPr>
          <p:cNvPr id="33" name="Metin kutusu 32">
            <a:extLst>
              <a:ext uri="{FF2B5EF4-FFF2-40B4-BE49-F238E27FC236}">
                <a16:creationId xmlns:a16="http://schemas.microsoft.com/office/drawing/2014/main" id="{718D30E2-1B13-6099-8189-5D59ACF24A4D}"/>
              </a:ext>
            </a:extLst>
          </p:cNvPr>
          <p:cNvSpPr txBox="1"/>
          <p:nvPr/>
        </p:nvSpPr>
        <p:spPr>
          <a:xfrm>
            <a:off x="5624750" y="2600790"/>
            <a:ext cx="315349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Sınıf Dengesizliği Problemi:</a:t>
            </a:r>
            <a:r>
              <a:rPr lang="tr-T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Veri setimizde 12.332 Gama ve 6.688 </a:t>
            </a:r>
            <a:r>
              <a:rPr lang="tr-T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lang="tr-T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örneği bulunmakta olup, bu durum yaklaşık 1,84:1 oranında belirgin bir sınıf dengesizliğine işaret etmektedir.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41D68062-21FC-EA29-0D50-B4CED19B59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6984" y="3118395"/>
            <a:ext cx="450799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Dağılımın Korunması: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stratify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=y parametresi kullanılarak veri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rastgele değil, sınıf oranları korunacak biçimde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%80 eğitim (15.216 gözlem) ve %20 test (3.804 gözlem)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olarak ikiye ayrılmıştır.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Eğitim ve Test Dağılımları:</a:t>
            </a: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Eğitim Seti: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~9.865 Gama + ~5.351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Test Seti: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~2.466 Gama + ~1.338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Bilimsel Geçerlilik: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Bu stratejik önlem alınmasaydı, basit rastgele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bölme işlemi sonucunda test setine orantısız sayıda örnek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düşebilir ve model performans değerlendirmeleri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tümüyle yanıltıcı olabilirdi.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42438"/>
          </a:solidFill>
          <a:ln w="12700">
            <a:solidFill>
              <a:srgbClr val="14243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365760" y="1828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Metrikleri  —  ROC Eğrisi &amp; AUC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dengesizliğinde doğru değerlendirme neden önemlidir?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9676" y="1146982"/>
            <a:ext cx="4072412" cy="4011945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tr-TR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11612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ROC Eğrisi Nedir?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40233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2" y="1104153"/>
            <a:ext cx="4297680" cy="400507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10" name="Text 8"/>
          <p:cNvSpPr/>
          <p:nvPr/>
        </p:nvSpPr>
        <p:spPr>
          <a:xfrm>
            <a:off x="4892040" y="1161288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Tüm Modellerin ROC-AUC S</a:t>
            </a:r>
            <a:r>
              <a:rPr lang="tr-TR" sz="1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onuçları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458200" y="49205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tr-TR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3</a:t>
            </a:r>
            <a:r>
              <a:rPr lang="tr-TR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39" name="Resim 38">
            <a:extLst>
              <a:ext uri="{FF2B5EF4-FFF2-40B4-BE49-F238E27FC236}">
                <a16:creationId xmlns:a16="http://schemas.microsoft.com/office/drawing/2014/main" id="{EE9C547D-ECE8-8C56-28CA-981DD9C20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384" y="1572768"/>
            <a:ext cx="4101235" cy="3387852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9D62F2CB-98BE-3CD3-2F0A-64E9AFA59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202" y="1669821"/>
            <a:ext cx="4023360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Neden Sadece "Doğruluk (</a:t>
            </a:r>
            <a:r>
              <a:rPr kumimoji="0" lang="tr-TR" altLang="tr-TR" sz="105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)" Bize Yetmez?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Veri setimizde yaklaşık 2 kata yakın (1,84:1) bir sınıf dengesizliği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bulunuyor. Eğer modelimiz sadece çoğunluk olan "Gama" sınıfını tahmin etmeye odaklanırsa yapay olarak yüksek bir doğruluk elde edebilir, ancak azınlık sınıfını tamamen kaçırır.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ROC Eğrisi Nedir?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İşte bu yanılgıyı önlemek için ROC eğrisine bakıyoruz. Bu eğri, modelimizin gerçek Gama sinyallerini doğru yakalama oranı (Duyarlılık) ile </a:t>
            </a:r>
            <a:r>
              <a:rPr kumimoji="0" lang="tr-TR" altLang="tr-TR" sz="10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gürültülerine yanlışlıkla alarm verme oranı (Yanlış Alarm) arasındaki kritik dengeyi gösterir.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AUC Ne İfade Eder?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AUC, basitçe bu ROC eğrisinin grafikte kapladığı toplam alanı temsil eder. AUC puanımızın 1.0'a yaklaşması, modelimizin Gama ve </a:t>
            </a:r>
            <a:r>
              <a:rPr kumimoji="0" lang="tr-TR" altLang="tr-TR" sz="10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sinyallerini birbirinden mükemmel şekilde ayırt edebildiğini kanıtlar; 0.5 civarında kalması ise modelin kararlarını tamamen şansa dayalı (yazı-tura gibi) verdiğini gösterir.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Kullanılan Algoritmalar — Genel Bakış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Gözetimli + Gözetimsiz Öğrenme · 5-Fold Stratified CV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01168" y="107899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01168" y="1078992"/>
            <a:ext cx="45720" cy="1188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10896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Lojistik Regresyon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" y="14264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Referans model · Sigmoid çıkışı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91256" y="107899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3191256" y="1078992"/>
            <a:ext cx="45720" cy="1188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300984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k-En Yakın Komşu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00984" y="14264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k=1→20 CV optimizasyonu yapıldı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07899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6181344" y="1078992"/>
            <a:ext cx="45720" cy="11887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291072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Ağacı (Gini)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91072" y="14264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Özyinelemeli bölümleme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01168" y="240487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201168" y="2404872"/>
            <a:ext cx="45720" cy="11887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310896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Ağacı (Entropi)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" y="275234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 kazanımı kriteri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91256" y="240487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3191256" y="2404872"/>
            <a:ext cx="45720" cy="11887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300984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Orman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00984" y="275234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100 ağaç · Bootstrap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81344" y="240487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6181344" y="2404872"/>
            <a:ext cx="45720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6291072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Naive Bayes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1072" y="275234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Olasılıksal · Bağımsızlık varsayımı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01168" y="373075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201168" y="3730752"/>
            <a:ext cx="45720" cy="11887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Text 30"/>
          <p:cNvSpPr/>
          <p:nvPr/>
        </p:nvSpPr>
        <p:spPr>
          <a:xfrm>
            <a:off x="310896" y="3794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Sinir Ağı (YSA)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10896" y="407822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TF/Keras · Dropout + Early Stop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191256" y="373075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5" name="Shape 33"/>
          <p:cNvSpPr/>
          <p:nvPr/>
        </p:nvSpPr>
        <p:spPr>
          <a:xfrm>
            <a:off x="3191256" y="3730752"/>
            <a:ext cx="45720" cy="1188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Text 34"/>
          <p:cNvSpPr/>
          <p:nvPr/>
        </p:nvSpPr>
        <p:spPr>
          <a:xfrm>
            <a:off x="3300984" y="3794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Kümeleme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00984" y="407822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Method · k belirleme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3730752"/>
            <a:ext cx="2816352" cy="11887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9" name="Shape 37"/>
          <p:cNvSpPr/>
          <p:nvPr/>
        </p:nvSpPr>
        <p:spPr>
          <a:xfrm>
            <a:off x="6181344" y="3730752"/>
            <a:ext cx="45720" cy="1188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Text 38"/>
          <p:cNvSpPr/>
          <p:nvPr/>
        </p:nvSpPr>
        <p:spPr>
          <a:xfrm>
            <a:off x="6291072" y="3794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Hiyerarşik Kümeleme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91072" y="407822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bağlantı · Dendrogram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1 — Lojistik Regresyon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İkili sınıflandırma için temel referans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51459" y="1165891"/>
            <a:ext cx="5029200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3840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Çalışır ve Neden Seçildi?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79.34%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Doğruluk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73152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78.36%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Doğruluk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54864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0.7929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Hassasiyet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73152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0.9019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Duyarlılık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54864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0.8439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F1-Skoru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Text 24"/>
          <p:cNvSpPr/>
          <p:nvPr/>
        </p:nvSpPr>
        <p:spPr>
          <a:xfrm>
            <a:off x="73152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0.8313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30" name="Rectangle 1">
            <a:extLst>
              <a:ext uri="{FF2B5EF4-FFF2-40B4-BE49-F238E27FC236}">
                <a16:creationId xmlns:a16="http://schemas.microsoft.com/office/drawing/2014/main" id="{F1563F60-0A70-C4DA-4E81-5B769D56F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755" y="1372649"/>
            <a:ext cx="4864609" cy="343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Lojistik Regresyon, analizlerimize başlarken diğer karmaşık algoritmaları kıyaslayabileceğimiz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temel bir referans noktası (</a:t>
            </a:r>
            <a:r>
              <a:rPr kumimoji="0" lang="tr-TR" altLang="tr-TR" sz="105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oluşturmak amacıyla seçilmiştir.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Çıktımız Gama ve </a:t>
            </a:r>
            <a:r>
              <a:rPr kumimoji="0" lang="tr-TR" altLang="tr-TR" sz="10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olmak üzere iki kategoriden oluştuğu için, klasik lineer regresyon yerine doğrudan olasılık üreten Lojistik Regresyon tercih edilmiştir.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Nasıl Karar Veriyor?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Gelen tüm teleskop değişkenlerini alır ve bunları meşhur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"Sigmoid"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fonksiyonundan geçirerek 0 ile 1 arasında matematiksel bir olasılığa sıkıştırır.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sistemde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0,5 eşik değerinin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üstünde kalan sinyaller "Gama" (1), altında kalanlar ise gürültü yani "</a:t>
            </a:r>
            <a:r>
              <a:rPr kumimoji="0" lang="tr-TR" altLang="tr-TR" sz="10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 (0) olarak sınıflandırılır.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Lojistik regresyonun en büyük avantajı; eğitim sürecinin çok hızlı olması ve denklemin katsayılarına bakarak sonuçların çok kolay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yorumlanabilmesidir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Sağdaki tablolarda görüldüğü üzere model;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%78,36 Test Doğruluğu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ve </a:t>
            </a:r>
            <a:r>
              <a:rPr kumimoji="0" lang="tr-TR" altLang="tr-TR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0,8313 ROC-AUC</a:t>
            </a:r>
            <a:r>
              <a:rPr kumimoji="0" lang="tr-TR" altLang="tr-TR" sz="10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skoru ile başlangıç seviyesi için gayet istikrarlı, ancak daha karmaşık ağaç yapılarına kıyasla nispeten düşük bir performans sergilemiştir.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2 — k-En Yakın Komşu (k-NN)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Uzaklık tabanlı sınıflandırma · k optimizasyonu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51460" y="1207723"/>
            <a:ext cx="5029200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3840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Çalışır ve k Nasıl Seçildi?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" y="1524372"/>
            <a:ext cx="4864608" cy="256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gözlemi sınıflandırmak için eğitim setindeki en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yakın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tr-TR" sz="1050" dirty="0"/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komşusunun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çoğunluk sınıfını benimser. Uzaklık ölçütü: Öklid.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çalışmada k=1'den 20'ye kadar her değer 5-fold CV ile test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edildi</a:t>
            </a:r>
            <a:r>
              <a:rPr lang="tr-TR" sz="1050" dirty="0"/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yüksek ortalama doğruluk veren k değeri seçildi.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tr-TR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 yüksek ama güvenilmez: Tek komşu gürültüye aşırı duyarlı.</a:t>
            </a:r>
            <a:endParaRPr lang="en-US" sz="1050" dirty="0"/>
          </a:p>
          <a:p>
            <a:pPr marL="0" indent="0">
              <a:buNone/>
            </a:pPr>
            <a:r>
              <a:rPr lang="tr-TR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k=2 ani düşüş: Çift komşu beraberlik durumu yaratıyor.</a:t>
            </a:r>
            <a:endParaRPr lang="en-US" sz="1050" dirty="0"/>
          </a:p>
          <a:p>
            <a:pPr marL="0" indent="0">
              <a:buNone/>
            </a:pPr>
            <a:r>
              <a:rPr lang="tr-TR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k=3 ve üzeri: Doğruluk istikrar kazanıyor.</a:t>
            </a:r>
            <a:endParaRPr lang="en-US" sz="1050" dirty="0"/>
          </a:p>
          <a:p>
            <a:pPr marL="0" indent="0">
              <a:buNone/>
            </a:pPr>
            <a:r>
              <a:rPr lang="tr-TR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k≈12: En yüksek CV skoru elde edildi.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çift k değerlerindeki beraberlik durumunu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içinde</a:t>
            </a:r>
            <a:r>
              <a:rPr lang="tr-TR" sz="1050" dirty="0"/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çözebilmektedir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 nedenle k=12 kullanımında sorun oluşmadı.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StandardScaler uygulanmadan k-NN güvenilmez sonuç verirdi.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84.06%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Doğruluk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73152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Doğruluk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54864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Hassasiyet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73152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Duyarlılık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54864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0.8856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F1-Skoru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Text 24"/>
          <p:cNvSpPr/>
          <p:nvPr/>
        </p:nvSpPr>
        <p:spPr>
          <a:xfrm>
            <a:off x="73152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0.8951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77840" y="4727448"/>
            <a:ext cx="3429000" cy="438912"/>
          </a:xfrm>
          <a:prstGeom prst="rect">
            <a:avLst/>
          </a:prstGeom>
          <a:solidFill>
            <a:srgbClr val="1622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Text 27"/>
          <p:cNvSpPr/>
          <p:nvPr/>
        </p:nvSpPr>
        <p:spPr>
          <a:xfrm>
            <a:off x="5760720" y="472869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Std. Sapma: ±0.0022 → Tüm modeller içinde en kararlı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9"/>
            <a:ext cx="9144000" cy="5293567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3 — Karar Ağacı (Gini &amp; Entropi)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Özyinelemeli bölümleme · İki kriter karşılaştırması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36674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320038" y="1097280"/>
            <a:ext cx="4352781" cy="1855529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19" cy="1855529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67107" y="112957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Çalışır?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0591" y="1311578"/>
            <a:ext cx="3919024" cy="14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Gini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Safsızlık İndeksi: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Bu yöntem hesaplama açısından oldukça hızlı ve verimlidir. Genelde büyük veri setlerinde işlem yükünü azaltmak için tercih edilir.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Entropi (Bilgi Kazanımı):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Bilgi teorisine dayanan bu yöntem,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Gini’ye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göre biraz daha yavaş çalışsa da verideki düzensizliği daha hassas bir şekilde ölçer.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924432"/>
              </p:ext>
            </p:extLst>
          </p:nvPr>
        </p:nvGraphicFramePr>
        <p:xfrm>
          <a:off x="320038" y="2865003"/>
          <a:ext cx="4307060" cy="2255367"/>
        </p:xfrm>
        <a:graphic>
          <a:graphicData uri="http://schemas.openxmlformats.org/drawingml/2006/table">
            <a:tbl>
              <a:tblPr/>
              <a:tblGrid>
                <a:gridCol w="1780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95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Doğruluk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81.05%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81.93%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Std. Sapma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±0.0075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Doğruluğu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Hassasiyet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Duyarlılık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F1-Skoru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0.8559</a:t>
                      </a:r>
                      <a:r>
                        <a:rPr lang="tr-TR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9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110263" y="1033272"/>
            <a:ext cx="3098247" cy="390472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2" name="Shape 9"/>
          <p:cNvSpPr/>
          <p:nvPr/>
        </p:nvSpPr>
        <p:spPr>
          <a:xfrm>
            <a:off x="5073747" y="1120726"/>
            <a:ext cx="73032" cy="384048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/>
          <p:nvPr/>
        </p:nvSpPr>
        <p:spPr>
          <a:xfrm>
            <a:off x="5361666" y="1196692"/>
            <a:ext cx="79517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Çıkarım</a:t>
            </a:r>
            <a:endParaRPr lang="en-US" sz="1100" dirty="0"/>
          </a:p>
        </p:txBody>
      </p:sp>
      <p:sp>
        <p:nvSpPr>
          <p:cNvPr id="10" name="Text 11"/>
          <p:cNvSpPr/>
          <p:nvPr/>
        </p:nvSpPr>
        <p:spPr>
          <a:xfrm>
            <a:off x="5231715" y="1122953"/>
            <a:ext cx="2933777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Kriter Farkı: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İki yöntem arasındaki fark bu veri setinde oldukça azdır. Ancak Entropi, hem daha yüksek doğruluk hem de daha düşük standart sapma sunarak, daha 'kararlı' bir duruş sergilemiştir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Model Sınırı: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Her iki kriter 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Random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Forest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modelinin gerisinde kaldı. Bunun sebebi, tek başına bir karar ağacının veriyi ezberlemeye (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overfitting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) çok yatkın olmasıdır.</a:t>
            </a:r>
          </a:p>
          <a:p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İşte bu risk, bizi birden fazla ağacın birleştiği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Random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Forest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yapısını kullanmaya iten temel gerekçedir.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Literatür Onayı: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Elde ettiğimiz 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%81,60'lık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skorun literatürdeki 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%82'lik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değerle çok yakın olması, modelimizin güvenilirliğini ve doğruluğunu kanıtlar.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4 — Rastgele Orman (Random Forest)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yöntemi · 100 bağımsız karar ağacının toplu kararı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2743200" cy="1198797"/>
          </a:xfrm>
          <a:prstGeom prst="rect">
            <a:avLst/>
          </a:prstGeom>
          <a:solidFill>
            <a:srgbClr val="111E35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22860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" y="1436541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ağaç için veriden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yerine koymalı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örneklem çekilir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44368" y="155448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18688" y="1097280"/>
            <a:ext cx="2743200" cy="1198797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BE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3218688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Ağaçlar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27832" y="14401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ağaç birbirinden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 eğitilir.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özellik alt kümesi.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34456" y="155448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08776" y="1097280"/>
            <a:ext cx="2743200" cy="1198797"/>
          </a:xfrm>
          <a:prstGeom prst="rect">
            <a:avLst/>
          </a:prstGeom>
          <a:solidFill>
            <a:srgbClr val="111E35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6208776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Çoğunluk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Oylaması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99632" y="14127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ağacın tahmini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birleştirilir. En fazla oy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sınıf kazanır.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" y="2474967"/>
            <a:ext cx="8686800" cy="26517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 sz="1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1460" y="2470746"/>
            <a:ext cx="45720" cy="26517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8CCA9D51-5BBC-6698-68A3-B2F143362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896" y="2560349"/>
            <a:ext cx="4675694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Veri Setinde Neden Zirvede Yer Aldı?</a:t>
            </a: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Veri setimizdeki Gama ve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sinyallerinin ayrımı düz doğrusal bir çizgiyle yapılamayacak kadar karmaşık olduğundan, Rastgele Orman modeli esnek karar sınırları çizebilme yeteneğiyle öne çıkmaktadır.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Keşifsel veri analizimizde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fConc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ve fConc1 değişkenleri arasında tespit ettiğimiz 0,98'lik yüksek korelasyon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Naive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gibi algoritmaları bozarken; bu model, her ağacı eğitirken rastgele özellik alt kümeleri seçtiği için bu durumdan hiç etkilenmemiştir.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Sistemin altyapısı 100 bağımsız karar ağacının çoğunluk oylamasına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Ensemble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yöntemi) dayandığı için, tek bir ağacın yapabileceği ezberleme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overfitting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hatasına karşı belirgin biçimde dirençlidir.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Fiziksel bağlamda da doğru yoldayız; literatür araştırmalarımızda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Ohtani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ve MAGIC Collaboration tarafından yürütülen gerçek teleskop analizlerinde de bu algoritmanın standart bir prosedür olarak benimsendiği görülmüştür.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2" name="Tablo 21">
            <a:extLst>
              <a:ext uri="{FF2B5EF4-FFF2-40B4-BE49-F238E27FC236}">
                <a16:creationId xmlns:a16="http://schemas.microsoft.com/office/drawing/2014/main" id="{30D79337-627E-3D9D-F52F-F8082EAC3D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875717"/>
              </p:ext>
            </p:extLst>
          </p:nvPr>
        </p:nvGraphicFramePr>
        <p:xfrm>
          <a:off x="4885610" y="2551176"/>
          <a:ext cx="3892630" cy="2207212"/>
        </p:xfrm>
        <a:graphic>
          <a:graphicData uri="http://schemas.openxmlformats.org/drawingml/2006/table">
            <a:tbl>
              <a:tblPr/>
              <a:tblGrid>
                <a:gridCol w="2131010">
                  <a:extLst>
                    <a:ext uri="{9D8B030D-6E8A-4147-A177-3AD203B41FA5}">
                      <a16:colId xmlns:a16="http://schemas.microsoft.com/office/drawing/2014/main" val="2543058969"/>
                    </a:ext>
                  </a:extLst>
                </a:gridCol>
                <a:gridCol w="1761620">
                  <a:extLst>
                    <a:ext uri="{9D8B030D-6E8A-4147-A177-3AD203B41FA5}">
                      <a16:colId xmlns:a16="http://schemas.microsoft.com/office/drawing/2014/main" val="4207585073"/>
                    </a:ext>
                  </a:extLst>
                </a:gridCol>
              </a:tblGrid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000" b="1" dirty="0">
                          <a:solidFill>
                            <a:schemeClr val="accent1"/>
                          </a:solidFill>
                          <a:effectLst/>
                          <a:latin typeface="Google Sans Text"/>
                        </a:rPr>
                        <a:t>Performans Metriği</a:t>
                      </a:r>
                      <a:endParaRPr lang="tr-TR" sz="1000" dirty="0">
                        <a:solidFill>
                          <a:schemeClr val="accent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000" b="1" dirty="0">
                          <a:solidFill>
                            <a:schemeClr val="accent1"/>
                          </a:solidFill>
                          <a:effectLst/>
                          <a:latin typeface="Google Sans Text"/>
                        </a:rPr>
                        <a:t>Elde Edilen Skor</a:t>
                      </a:r>
                      <a:endParaRPr lang="tr-TR" sz="1000" dirty="0">
                        <a:solidFill>
                          <a:schemeClr val="accent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881268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Çapraz Doğrulama (CV) Skoru</a:t>
                      </a:r>
                      <a:endParaRPr lang="tr-TR" sz="8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%87,63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31259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Test Doğruluğu</a:t>
                      </a:r>
                      <a:endParaRPr lang="tr-TR" sz="8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%88,59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924294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ROC-AUC Değeri</a:t>
                      </a:r>
                      <a:endParaRPr lang="tr-TR" sz="8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0,9382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002813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Hassasiyet (Precision)</a:t>
                      </a:r>
                      <a:endParaRPr lang="tr-TR" sz="8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0,8869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258652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Duyarlılık (Recall)</a:t>
                      </a:r>
                      <a:endParaRPr lang="tr-TR" sz="8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0,9444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624190"/>
                  </a:ext>
                </a:extLst>
              </a:tr>
              <a:tr h="315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F1-Skoru</a:t>
                      </a:r>
                      <a:endParaRPr lang="tr-TR" sz="8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8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0,9148 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8066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5 — Gaussian Naive Bayes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Olasılıksal sınıflandırıcı · Bağımsızlık varsayımı ve bu veri setindeki kısıtları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196465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Çalışır?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3428123"/>
            <a:ext cx="5029200" cy="13716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224028" y="3428123"/>
            <a:ext cx="45720" cy="13716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10895" y="3428123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 Doğrulaması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" y="3702443"/>
            <a:ext cx="4864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 düşük performans (%72,98 Doğruluk ve 0,7488 AUC) bizim modellememizdeki bir hata değil, algoritmanın teorik sınırıdır. Nitekim literatürde </a:t>
            </a:r>
            <a:r>
              <a:rPr lang="tr-TR" altLang="tr-TR" sz="1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Acevedo</a:t>
            </a:r>
            <a:r>
              <a:rPr lang="tr-TR" altLang="tr-TR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(2023) de aynı veri setinde bu modelle sadece %71 doğruluk bulabilmiştir; sonuçlarımız bilimsel beklentiyle tam olarak örtüşmektedir.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54864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Doğruluk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Text 16"/>
          <p:cNvSpPr/>
          <p:nvPr/>
        </p:nvSpPr>
        <p:spPr>
          <a:xfrm>
            <a:off x="73152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72.98%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Doğruluk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54864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0.7339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864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Hassasiyet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15200" y="2441448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731520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31520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Duyarlılık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54864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0.8144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864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F1-Skoru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0" y="3739896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Text 28"/>
          <p:cNvSpPr/>
          <p:nvPr/>
        </p:nvSpPr>
        <p:spPr>
          <a:xfrm>
            <a:off x="7315200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0.7488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315200" y="4242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09260" y="4681728"/>
            <a:ext cx="3429000" cy="438912"/>
          </a:xfrm>
          <a:prstGeom prst="rect">
            <a:avLst/>
          </a:prstGeom>
          <a:solidFill>
            <a:srgbClr val="1622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5692140" y="4707107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modeller içinde en düşük performans — beklentiyle örtüşüyor.</a:t>
            </a:r>
            <a:endParaRPr lang="en-US" sz="950" dirty="0"/>
          </a:p>
        </p:txBody>
      </p:sp>
      <p:sp>
        <p:nvSpPr>
          <p:cNvPr id="35" name="Rectangle 1">
            <a:extLst>
              <a:ext uri="{FF2B5EF4-FFF2-40B4-BE49-F238E27FC236}">
                <a16:creationId xmlns:a16="http://schemas.microsoft.com/office/drawing/2014/main" id="{1C0816A8-AFD9-FB70-82F2-1014BD499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599" y="1536192"/>
            <a:ext cx="5029201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Çalışma Prensibi ve Veri Setimizdeki Çöküş Nedeni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tr-TR" altLang="tr-T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aussian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Naive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temelini ünlü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teoreminden alan olasılıksal bir sınıflandırıcıdır ve en hayati kuralı şudur: "Tüm değişkenler birbirinden tamamen bağımsızdır".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Bağımsızlık İhlali: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Keşifsel veri analizimizde (EDA) net bir şekilde gördüğümüz üzere,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fConc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ve fConc1 değişkenleri arasında 0,98 gibi neredeyse tam bir doğrusal ilişki bulunmaktadır.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Matematiksel Yanılgı: 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algoritma "Saf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Naive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)" olduğu için, aralarındaki bu bağı göremez. Aslında aynı bilgiyi veren bu iki değişkeni, birbirinden tamamen bağımsız iki ayrı kanıtmış gibi çarparak olasılıkları sistematik biçimde hatalı hesaplar.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tr-TR" alt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tr-TR" alt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Sinir Ağı (YSA / ANN) — Mimari ve Eğitim Süreci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TensorFlow/Keras · Dropout · Early Stopping · SMOTE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1627632" cy="1325880"/>
          </a:xfrm>
          <a:prstGeom prst="rect">
            <a:avLst/>
          </a:prstGeom>
          <a:solidFill>
            <a:srgbClr val="111E3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182880" y="11430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Katmanı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" y="1527048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nöron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aktivasyon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64792" y="155448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947672" y="1097280"/>
            <a:ext cx="1627632" cy="1325880"/>
          </a:xfrm>
          <a:prstGeom prst="rect">
            <a:avLst/>
          </a:prstGeom>
          <a:solidFill>
            <a:srgbClr val="111E35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1947672" y="11430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947672" y="1527048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%30 dropout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önleme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29584" y="155448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12464" y="1097280"/>
            <a:ext cx="1627632" cy="1325880"/>
          </a:xfrm>
          <a:prstGeom prst="rect">
            <a:avLst/>
          </a:prstGeom>
          <a:solidFill>
            <a:srgbClr val="111E3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3712464" y="11430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Gizli Katman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712464" y="1527048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nöron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aktivasyon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94376" y="155448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77256" y="1097280"/>
            <a:ext cx="1627632" cy="1325880"/>
          </a:xfrm>
          <a:prstGeom prst="rect">
            <a:avLst/>
          </a:prstGeom>
          <a:solidFill>
            <a:srgbClr val="111E35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5477256" y="11430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77256" y="1527048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%30 dropout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önleme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59168" y="155448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242048" y="1097280"/>
            <a:ext cx="1627632" cy="1325880"/>
          </a:xfrm>
          <a:prstGeom prst="rect">
            <a:avLst/>
          </a:prstGeom>
          <a:solidFill>
            <a:srgbClr val="111E35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7242048" y="11430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Çıkış Katmanı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242048" y="1527048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nöron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aktivasyon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8600" y="2542032"/>
            <a:ext cx="4297680" cy="26060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6" name="Shape 24"/>
          <p:cNvSpPr/>
          <p:nvPr/>
        </p:nvSpPr>
        <p:spPr>
          <a:xfrm>
            <a:off x="228600" y="2542032"/>
            <a:ext cx="45720" cy="26060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338328" y="260604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rgbClr val="7B2FBE"/>
                </a:solidFill>
              </a:rPr>
              <a:t>Mimari ve Tasarım Süreci</a:t>
            </a:r>
            <a:endParaRPr lang="en-US" sz="1100" dirty="0">
              <a:solidFill>
                <a:srgbClr val="7B2FBE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8328" y="2889504"/>
            <a:ext cx="413308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Giriş Katmanı: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Veriyi 32 nöron ve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ReLU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aktivasyonu ile karşılayıp özelliklerin hızlıca öğrenilmesini sağlıyoruz.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Dropout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Durakları: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Mimarimize iki adet %30'luk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Dropout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katmanı ekledik. Bunlar eğitim sırasında bazı nöronları rastgele devre dışı bırakarak modelin veriyi ezberlemesini (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overfitting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) engelliyor.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Gizli Katman: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Bilgiyi 16 nörona indirgeyerek en saf ve en ayırıcı bilgileri süzüp çıkarır.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Çıkış Katmanı: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Son adımda Sigmoid fonksiyonu kullanarak sonucu 0 ile 1 arasına sıkıştırıyoruz. Bu sayede model bize sadece bir tahmin değil, sinyalin Gama olma olasılığını veriyor</a:t>
            </a:r>
          </a:p>
        </p:txBody>
      </p:sp>
      <p:sp>
        <p:nvSpPr>
          <p:cNvPr id="29" name="Shape 27"/>
          <p:cNvSpPr/>
          <p:nvPr/>
        </p:nvSpPr>
        <p:spPr>
          <a:xfrm>
            <a:off x="4754880" y="2542032"/>
            <a:ext cx="4160520" cy="26060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4754880" y="2542032"/>
            <a:ext cx="45720" cy="26060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864608" y="2606040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</a:t>
            </a:r>
            <a:r>
              <a:rPr lang="en-US" sz="1100" b="1" dirty="0" err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</a:t>
            </a: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</a:t>
            </a: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Uygulandı</a:t>
            </a: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64608" y="2889504"/>
            <a:ext cx="399592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YSA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mimarisi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scikit-learn/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imblearn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Pipeline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</a:t>
            </a: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biçimde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çalışmamaktadır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Alternatif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%80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%20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doğrulama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bölündü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SMOTE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kümesine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uygulandı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Doğrulama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setine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sentetik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karışmadı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Test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setine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aşamada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dokunulmadı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yaklaşım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Pipeline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yöntemiyle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eşdeğer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sızıntısı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güvencesi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sağlamaktadır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9"/>
            <a:ext cx="9144000" cy="5194041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Sinir Ağı — Eğitim Süreci Sonuçları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Epoch'ta Early Stopping · Overfitting Yok · AUC: 0.9231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3681336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384048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rgbClr val="7B2FBE"/>
                </a:solidFill>
              </a:rPr>
              <a:t>Eğitim Sonuçları ve Grafik Yorumları</a:t>
            </a:r>
            <a:endParaRPr lang="en-US" sz="1100" dirty="0">
              <a:solidFill>
                <a:srgbClr val="7B2FBE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38328" y="1444752"/>
            <a:ext cx="3500941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Doğruluk (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Accuracy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) Grafiği:</a:t>
            </a:r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Modelin başarısı kısa sürede %87 seviyesine ulaştı.</a:t>
            </a: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Not: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Doğrulama başarısı, eğitim başarısından daha yüksek çıktı. Bunun sebebi eğitimde kullandığımız 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SMOTE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yöntemidir. Model, yapay verilerle "zorlu" bir eğitimden geçtiği için, gerçek verilerden oluşan doğrulama setinde çok daha rahat ve başarılı sonuçlar verdi.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Kayıp (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Loss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) Grafiği:</a:t>
            </a:r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Hata payımız (kayıp), eğitim boyunca düzenli bir şekilde azaldı. Eğitim ve doğrulama çizgilerinin birbirine çok yakın ilerlemesi, modelin veriyi ezberlemediğini (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Overfitting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yapmadığını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) kanıtlıyor.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Early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Stopping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 (Erken Durdurma):</a:t>
            </a:r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Sistemi 50 tur dönecek şekilde kurmuştuk ama model 18. turda (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epoch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) en iyi performansına ulaştı.</a:t>
            </a:r>
          </a:p>
          <a:p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Daha fazla eğitimin hata payını düşürmediğini fark eden mekanizma, süreci otomatik olarak durdurup 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en başarılı ağırlıkları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koruma altına aldı.</a:t>
            </a:r>
          </a:p>
        </p:txBody>
      </p:sp>
      <p:sp>
        <p:nvSpPr>
          <p:cNvPr id="10" name="Shape 8"/>
          <p:cNvSpPr/>
          <p:nvPr/>
        </p:nvSpPr>
        <p:spPr>
          <a:xfrm>
            <a:off x="4770130" y="1372145"/>
            <a:ext cx="1155132" cy="436672"/>
          </a:xfrm>
          <a:prstGeom prst="rect">
            <a:avLst/>
          </a:prstGeom>
          <a:solidFill>
            <a:srgbClr val="162240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 sz="1400"/>
          </a:p>
        </p:txBody>
      </p:sp>
      <p:sp>
        <p:nvSpPr>
          <p:cNvPr id="11" name="Text 9"/>
          <p:cNvSpPr/>
          <p:nvPr/>
        </p:nvSpPr>
        <p:spPr>
          <a:xfrm>
            <a:off x="4770130" y="1417865"/>
            <a:ext cx="1155132" cy="22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~87.0%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70130" y="1875065"/>
            <a:ext cx="1155132" cy="160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Doğruluk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778828" y="2208623"/>
            <a:ext cx="1155132" cy="436672"/>
          </a:xfrm>
          <a:prstGeom prst="rect">
            <a:avLst/>
          </a:prstGeom>
          <a:solidFill>
            <a:srgbClr val="162240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 sz="1400"/>
          </a:p>
        </p:txBody>
      </p:sp>
      <p:sp>
        <p:nvSpPr>
          <p:cNvPr id="14" name="Text 12"/>
          <p:cNvSpPr/>
          <p:nvPr/>
        </p:nvSpPr>
        <p:spPr>
          <a:xfrm>
            <a:off x="4778828" y="2254343"/>
            <a:ext cx="1155132" cy="22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0.9231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78828" y="2711543"/>
            <a:ext cx="1155132" cy="160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2">
                    <a:lumMod val="9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700" dirty="0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30" name="Resim 29">
            <a:extLst>
              <a:ext uri="{FF2B5EF4-FFF2-40B4-BE49-F238E27FC236}">
                <a16:creationId xmlns:a16="http://schemas.microsoft.com/office/drawing/2014/main" id="{F6283423-6EDB-5E62-3E05-D51A28F885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6286" y="1161288"/>
            <a:ext cx="2351736" cy="176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Resim 30">
            <a:extLst>
              <a:ext uri="{FF2B5EF4-FFF2-40B4-BE49-F238E27FC236}">
                <a16:creationId xmlns:a16="http://schemas.microsoft.com/office/drawing/2014/main" id="{4D9672D6-2494-950B-C8DE-1B989805D5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6286" y="3220513"/>
            <a:ext cx="2351736" cy="1773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Resim 31">
            <a:extLst>
              <a:ext uri="{FF2B5EF4-FFF2-40B4-BE49-F238E27FC236}">
                <a16:creationId xmlns:a16="http://schemas.microsoft.com/office/drawing/2014/main" id="{D5D71543-A4BF-34AA-57E6-A409A05420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3113" y="3220513"/>
            <a:ext cx="2464507" cy="17172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Gözetimsiz Öğrenme — K-Means &amp; Hiyerarşik Kümeleme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setinin gözetimsiz öğrenme için uygunluğunun sınanması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315468" y="1085710"/>
            <a:ext cx="4297680" cy="22860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Kümeleme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444752"/>
            <a:ext cx="413308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60520" cy="22860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5720" cy="228600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864608" y="1161288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Hiyerarşik Kümeleme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52618" y="1894243"/>
            <a:ext cx="1829555" cy="3627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3532880"/>
            <a:ext cx="8686800" cy="1645920"/>
          </a:xfrm>
          <a:prstGeom prst="rect">
            <a:avLst/>
          </a:prstGeom>
          <a:solidFill>
            <a:srgbClr val="111E35"/>
          </a:solidFill>
          <a:ln w="127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= 0,0076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720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Düzeltilmiş Rand İndeksi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46120" y="3611880"/>
            <a:ext cx="561441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100" dirty="0">
                <a:solidFill>
                  <a:schemeClr val="bg1"/>
                </a:solidFill>
              </a:rPr>
              <a:t>Sıfıra oldukça yakın olan </a:t>
            </a:r>
            <a:r>
              <a:rPr lang="tr-TR" sz="1100" b="1" dirty="0">
                <a:solidFill>
                  <a:schemeClr val="bg1"/>
                </a:solidFill>
              </a:rPr>
              <a:t>0,0076 ARI</a:t>
            </a:r>
            <a:r>
              <a:rPr lang="tr-TR" sz="1100" dirty="0">
                <a:solidFill>
                  <a:schemeClr val="bg1"/>
                </a:solidFill>
              </a:rPr>
              <a:t> skoru, K-</a:t>
            </a:r>
            <a:r>
              <a:rPr lang="tr-TR" sz="1100" dirty="0" err="1">
                <a:solidFill>
                  <a:schemeClr val="bg1"/>
                </a:solidFill>
              </a:rPr>
              <a:t>Means</a:t>
            </a:r>
            <a:r>
              <a:rPr lang="tr-TR" sz="1100" dirty="0">
                <a:solidFill>
                  <a:schemeClr val="bg1"/>
                </a:solidFill>
              </a:rPr>
              <a:t> algoritmasının oluşturduğu kümelerin bizim gerçek Gama/</a:t>
            </a:r>
            <a:r>
              <a:rPr lang="tr-TR" sz="1100" dirty="0" err="1">
                <a:solidFill>
                  <a:schemeClr val="bg1"/>
                </a:solidFill>
              </a:rPr>
              <a:t>Hadron</a:t>
            </a:r>
            <a:r>
              <a:rPr lang="tr-TR" sz="1100" dirty="0">
                <a:solidFill>
                  <a:schemeClr val="bg1"/>
                </a:solidFill>
              </a:rPr>
              <a:t> etiketlerimizle hiçbir benzerlik taşımadığını (neredeyse tamamen rastgele atama yaptığını) ispatlamaktadır. </a:t>
            </a:r>
          </a:p>
          <a:p>
            <a:endParaRPr lang="tr-TR" sz="1100" dirty="0">
              <a:solidFill>
                <a:schemeClr val="bg1"/>
              </a:solidFill>
            </a:endParaRPr>
          </a:p>
          <a:p>
            <a:r>
              <a:rPr lang="tr-TR" sz="1100" b="1" dirty="0">
                <a:solidFill>
                  <a:schemeClr val="bg1"/>
                </a:solidFill>
              </a:rPr>
              <a:t>Nihai Çıkarım:</a:t>
            </a:r>
            <a:r>
              <a:rPr lang="tr-TR" sz="1100" dirty="0">
                <a:solidFill>
                  <a:schemeClr val="bg1"/>
                </a:solidFill>
              </a:rPr>
              <a:t> Bu deney bize göstermiştir ki; özellik uzayında karmaşık biçimde iç içe geçmiş bu tür verilerde etiketleri yok sayan "gözetimsiz" öğrenme yetersiz kalmaktadır. Projemizin temelini oluşturan </a:t>
            </a:r>
            <a:r>
              <a:rPr lang="tr-TR" sz="1100" b="1" dirty="0">
                <a:solidFill>
                  <a:schemeClr val="bg1"/>
                </a:solidFill>
              </a:rPr>
              <a:t>gözetimli algoritmaların</a:t>
            </a:r>
            <a:r>
              <a:rPr lang="tr-TR" sz="1100" dirty="0">
                <a:solidFill>
                  <a:schemeClr val="bg1"/>
                </a:solidFill>
              </a:rPr>
              <a:t> (RF, YSA vb.) bu problem için tek geçerli çözüm olduğu deneysel olarak kanıtlanmıştır. </a:t>
            </a:r>
          </a:p>
          <a:p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5B35E041-58E8-3C3D-7F5B-2288226EA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760" y="1426483"/>
            <a:ext cx="3953754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Model bellek kapasitesini optimize etmek amacıyla analizlerimiz, eğitim setinden rastgele seçilen 2.000 gözlem üzerinde yürütülmüştür.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Optimum küme sayısını (k) belirlemek için 1'den 10'a kadar olan değerler için WCSS (Küme İçi Kareler Toplamı) hesaplanmış ve Dirsek Yöntemi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Elbow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kullanılmıştır.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Kritik Çıktı: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Çizilen WCSS grafiğinde belirgin bir "dirsek (kırılma)" noktası tespit edilememiştir. Bu metrik, uzay teleskobu verilerimizin doğrusal, ayrışık ve net sınırları olan küresel kümeler oluşturmadığını fiziksel olarak göstermektedir.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EF7B3BE3-0506-B417-E729-C8EDC5721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4401" y="1575509"/>
            <a:ext cx="4110999" cy="14311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Algoritmanın alt kümeleri birleştirme mantığı "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Ward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bağlantı yöntemi" ile kurulmuş ve sonuçlar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Dendrogram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üzerinde görselleştirilmiştir.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Ağaç yapısı incelendiğinde, en üstte gerçekleşen birleşmenin yaklaşık 105 Öklid uzaklığında olduğu tespit edilmiştir.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Kritik Çıktı: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İki ana dal arasındaki Öklid mesafesi teorik olarak çok büyük görünse de, bu iki büyük kümenin içeriği bizim aradığımız "Gama" ve "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 ayrımını yansıtamamıştır.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Özgün Değer 1 — SMOTE ile Sınıf Dengesizliğinin Giderilmesi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mimarisine entegrasyon · Veri sızıntısı önleme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5029200" cy="2249424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2249424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Nedir ve Nasıl Çalışır?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2455278" y="3594084"/>
            <a:ext cx="2135964" cy="4342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60520" cy="2249424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5719" cy="21762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864608" y="1161288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Pipeline İçine Alındı?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24212" y="3258181"/>
            <a:ext cx="1562514" cy="382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0528" y="3555455"/>
            <a:ext cx="8686800" cy="109728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29775" y="3555455"/>
            <a:ext cx="45720" cy="10972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93192" y="3507858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Modelde SMOTE'un Etkisi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" y="3931920"/>
            <a:ext cx="8522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750144FD-525B-EAE8-58FE-134787A7A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" y="1428640"/>
            <a:ext cx="3638067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SMOTE (Sentetik Azınlık Aşırı Örnekleme Tekniği), azınlık sınıfındaki gözlemler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arasına doğrusal interpolasyon uygulayarak yepyeni, sentetik veriler üretir.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Azınlık verilerini birebir kopyalamak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Oversampling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modelin ezberlemesine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overfitting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yol açar. SMOTE ise uzayda farklı noktalar üreterek modelin sınırları daha iyi öğrenmesini sağlar.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Dengeleme Öncesi: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9.865 Gama + 5.351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Dengeleme Sonrası: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Her iki sınıf da tam eşitlenerek 9.865 örneğe çıkarılmıştır. 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FC4A2F9-7416-9571-5DC7-EB1789B04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055" y="1513648"/>
            <a:ext cx="3984170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Eğer SMOTE işlemini veri bölünmeden önce tüm sete uygulasaydık, ürettiğimiz bu sentetik veriler Çapraz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Doğrulama'nın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(CV) test/doğrulama katmanlarına sızacaktı.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</a:t>
            </a: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"Veri Sızıntısı" (Data </a:t>
            </a:r>
            <a:r>
              <a:rPr kumimoji="0" lang="tr-TR" altLang="tr-TR" sz="9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Leakage</a:t>
            </a: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modelin kendi ürettiği verilerle test edilmesine ve performansının kağıt üzerinde yapay olarak şişmesine neden olacaktı. </a:t>
            </a:r>
            <a:endParaRPr lang="tr-TR" alt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Çözüm: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(Boru Hattı) mimarisi kullanılarak, sentetik veri üretimi yalnızca her döngünün kendi "eğitim" kısmına hapsedilmiş, doğrulama setine sentetik veri sızması kesin olarak önlenmiştir. </a:t>
            </a: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372DD360-B5B4-B48E-B663-1B5029AF2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" y="3789518"/>
            <a:ext cx="838504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Lojistik Regresyon ve k-NN: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Uzaklık ve doğrusal hesaplama yapan bu iki model dengelenmiş veriden maksimum faydayı sağlamış; azınlık sınıfı olan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Hadron'u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doğru yakalama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oranları belirgin biçimde artmıştır.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Rastgele Orman (RF):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Ensemble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(topluluk) doğası gereği sınıf dengesizliğine karşı zaten baştan dirençli olduğu için,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SMOTE'un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bu model üzerindeki iyileştirici etkisi daha sınırlı (marjinal) kalmıştır.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Özgün Değer 2 — Rastgele Orman Hiperparametre Optimizasyonu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· Overfitting Kontrolü · Pipeline İçi SMOTE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4297680" cy="28849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19" cy="287578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Optimizasyon Süreci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4229259" y="5629438"/>
            <a:ext cx="1137519" cy="1931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475488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%88.59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Doğruluk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114300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667512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7512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2161032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4732020" y="21838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77740" y="262924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Hadron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157984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6675120" y="21838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2.246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75120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Gama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329072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4732020" y="328254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54880" y="3747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Hadron (FP)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75120" y="3285930"/>
            <a:ext cx="1737360" cy="868680"/>
          </a:xfrm>
          <a:prstGeom prst="rect">
            <a:avLst/>
          </a:prstGeom>
          <a:solidFill>
            <a:srgbClr val="16224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Text 24"/>
          <p:cNvSpPr/>
          <p:nvPr/>
        </p:nvSpPr>
        <p:spPr>
          <a:xfrm>
            <a:off x="6675120" y="33102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720840" y="3747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Gama (FN)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8647" y="4177412"/>
            <a:ext cx="8051821" cy="837294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833628" y="8968437"/>
            <a:ext cx="3995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Gerçek bir Gama sinyalini kaçırmak, teleskop gözlem süresinin boşa harcanması anlamına gelir. FN düşük tutmak bu çalışmanın fiziksel hedefidir.</a:t>
            </a: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4A500F04-E965-C4C6-4CD3-635D25989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464" y="1416339"/>
            <a:ext cx="4133088" cy="2539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Hızlı ve Akıllı Arama: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Lider modelimizin performansını maksimize etmek için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hiperparametre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optimizasyonu uyguladık. Tüm olasılıkları (72 kombinasyon) tek tek denemek yerine, hesaplama maliyetini 7 kat düşürerek çok daha hızlı sonuç veren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RandomizedSearchCV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yöntemini tercih ettik.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tr-TR" alt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30 Ayrı Model Eğitimi: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Ağaç sayısı, derinlik ve bölünme kriterleri gibi parametreleri barındıran 10 farklı kombinasyonu, 3 katlı Çapraz Doğrulama (CV) ile test ederek toplamda 30 eğitim döngüsü gerçekleştirdik.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Sıfır Veri Sızıntısı: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En kritik tasarım kararımız; bu optimizasyon arayışı sırasında da SMOTE algoritmasını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(boru hattı) içinde tutmak oldu. Böylece arama sürecine yapay verilerin sızması kesin olarak engellendi.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tr-TR" alt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Ezberleme (</a:t>
            </a:r>
            <a:r>
              <a:rPr kumimoji="0" lang="tr-TR" altLang="tr-TR" sz="9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Overfitting</a:t>
            </a: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Kontrolü: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Optimize edilen modelin eğitim skoru ile test skoru arasındaki fark 0,05'in altında kalmıştır. Bu durum, modelimizin veriyi "ezberlemediğinin" en net kanıtıdır. </a:t>
            </a:r>
          </a:p>
        </p:txBody>
      </p:sp>
      <p:sp>
        <p:nvSpPr>
          <p:cNvPr id="33" name="Rectangle 2">
            <a:extLst>
              <a:ext uri="{FF2B5EF4-FFF2-40B4-BE49-F238E27FC236}">
                <a16:creationId xmlns:a16="http://schemas.microsoft.com/office/drawing/2014/main" id="{3DA18BD7-E863-5A46-6523-DB57E4B0BE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19" y="4255742"/>
            <a:ext cx="8860536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Yanlış Negatif (FN: 220) Sayısı Neden Kritik Öneme Sahiptir?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Bütün bu model optimizasyonunun en büyük fiziksel amacı "gerçek bir gama sinyalini kaçırmamaktır".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Çünkü gerçek bir gama ışınını gürültü sanıp göz ardı etmek, devasa maliyetli teleskop gözlem süresinin çöpe gitmesi anlamına gelmektedir.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FN sayısını 220 gibi düşük bir seviyede tutmak, çalışmamızın en değerli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astrofiziksel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başarısıdır.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Özgün Değer 3 — SHAP ile Açıklanabilir Yapay Zeka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Additive exPlanations · Küresel &amp; Yerel Model Yorumlama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4352470" cy="2364081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599" y="1097280"/>
            <a:ext cx="85015" cy="232714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13615" y="1032361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Nedir?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1771269" y="2671111"/>
            <a:ext cx="1893608" cy="3711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96075" y="3794806"/>
            <a:ext cx="2706624" cy="1133763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51459" y="3760749"/>
            <a:ext cx="45719" cy="1135863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70300" y="37719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1 — f(x): 0.97</a:t>
            </a:r>
            <a:endParaRPr lang="tr-TR" sz="1100" b="1" dirty="0">
              <a:solidFill>
                <a:srgbClr val="06D6A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0620" y="3753612"/>
            <a:ext cx="26517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GAMA (Yüksek güven)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fConc1 + fAlpha → güçlü Gama desteği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fSize → hafif Hadron baskısı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25462" y="3789736"/>
            <a:ext cx="2657668" cy="1118839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3268818" y="3810761"/>
            <a:ext cx="45720" cy="11018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3394275" y="379721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2 — f(x): 0.68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1760" y="3802076"/>
            <a:ext cx="2446031" cy="1245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GAMA (Belirsiz karar)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fConc1 → Gama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fSize + fLength → Hadron baskısı (çatışma yüksek)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93996" y="3763899"/>
            <a:ext cx="2697477" cy="1118839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 flipH="1">
            <a:off x="6266214" y="3778525"/>
            <a:ext cx="45719" cy="108958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6435415" y="379721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3 — f(x): 0.78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28772" y="3887747"/>
            <a:ext cx="2463769" cy="990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GAMA (Orta güven)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fAlpha + fM3Long → belirleyici Gama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fDist → Hadron baskısı</a:t>
            </a:r>
            <a:endParaRPr lang="en-US" sz="1050" dirty="0"/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E5B864D3-18D2-748B-36D4-69D6459C4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895" y="1108077"/>
            <a:ext cx="4404615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Modelimizin yüksek bir doğruluk oranına ulaşması bilimsel bir çalışma için tek başına yeterli değildir; alınan bu kararların hangi değişkenlere dayandığını şeffaf ve anlaşılır bir biçimde ortaya koymamız gerekiyordu.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amaçla, temellerini oyun teorisindeki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Shapley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değerlerinden alan SHAP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SHapley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Additive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exPlanations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yöntemini sisteme entegre ettik. Bu algoritma, her bir teleskop parametresinin modelin nihai kararına olan bireysel katkısını matematiksel olarak hesaplamaktadır.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Geleneksel "Özellik Önemi" (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metrikleri yalnızca bir değişkenin ne kadar baskın olduğunu gösterirken, yön bilgisi sunamaz. SHAP ise etkinin hem büyüklüğünü hem de yönünü (sinyali Gama sınıfına mı yoksa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sınıfına mı çektiğini) ve özelliklerin birbiriyle olan etkileşimini net bir şekilde gösterir.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Hesaplama maliyetini verimli yönetebilmek adına, test setimizden rastgele 500 gözlem örneklenmiş ve doğrudan ağaç tabanlı modeller için optimize edilmiş olan </a:t>
            </a:r>
            <a:r>
              <a:rPr kumimoji="0" lang="tr-TR" altLang="tr-TR" sz="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TreeExplainer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altyapısı kullanılmıştır. </a:t>
            </a:r>
          </a:p>
        </p:txBody>
      </p:sp>
      <p:pic>
        <p:nvPicPr>
          <p:cNvPr id="28" name="Resim 27">
            <a:extLst>
              <a:ext uri="{FF2B5EF4-FFF2-40B4-BE49-F238E27FC236}">
                <a16:creationId xmlns:a16="http://schemas.microsoft.com/office/drawing/2014/main" id="{C9587FE2-E354-5DE0-FB28-A95E2E020D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510" y="1031684"/>
            <a:ext cx="3801411" cy="27102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Özgün Değer 4 — PCA ile Boyut İndirgeme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Bileşen Analizi · 10D → 7D · %95 Bilgi Korundu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599" y="1086683"/>
            <a:ext cx="5051909" cy="2464309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45720" cy="24537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6128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Neden ve Nasıl Uygulandı?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7" y="1444752"/>
            <a:ext cx="4736290" cy="1922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Temel Amaç: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Verideki bilgi kalabalığını (boyutu) azaltmanın, modellerin başarısı üzerindeki etkisini saf bir şekilde gözlemlemek.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Stratejik Karar: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Sonuçların sapmaması için bu aşamada SMOTE (yapay veri) kullanılmadı; sadece orijinal ve ölçeklendirilmiş verilerle çalışıldı.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Seçim Süreci: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Verideki toplam bilginin %95'ini temsil eden en güçlü </a:t>
            </a:r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7 bileşen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belirlendi ve geri kalan 3 bileşen elendi.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Neden Gerekliydi?: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Bazı değişkenlerin (örneğin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fConc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ve fConc1) birbiriyle %98 benzerlik göstermesi, veride tekrar eden gereksiz bilgi olduğunu kanıtlıyordu. PCA bu fazlalıkları temizledi.</a:t>
            </a:r>
          </a:p>
        </p:txBody>
      </p:sp>
      <p:sp>
        <p:nvSpPr>
          <p:cNvPr id="11" name="Shape 8"/>
          <p:cNvSpPr/>
          <p:nvPr/>
        </p:nvSpPr>
        <p:spPr>
          <a:xfrm>
            <a:off x="5500969" y="1069847"/>
            <a:ext cx="3414431" cy="3988601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2" name="Shape 9"/>
          <p:cNvSpPr/>
          <p:nvPr/>
        </p:nvSpPr>
        <p:spPr>
          <a:xfrm>
            <a:off x="5455250" y="1086683"/>
            <a:ext cx="45719" cy="3971765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/>
          <p:nvPr/>
        </p:nvSpPr>
        <p:spPr>
          <a:xfrm>
            <a:off x="5526183" y="1108241"/>
            <a:ext cx="3626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RF'de En Büyük Düşüş?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526184" y="1391705"/>
            <a:ext cx="3041930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Kritik Detayların Kaybı: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PCA, verinin %5'lik kısmını eledi. Ancak bizim için en önemli değişken olan </a:t>
            </a:r>
            <a:r>
              <a:rPr lang="tr-TR" sz="1050" b="1" dirty="0" err="1">
                <a:solidFill>
                  <a:schemeClr val="bg2">
                    <a:lumMod val="90000"/>
                  </a:schemeClr>
                </a:solidFill>
              </a:rPr>
              <a:t>fAlpha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'nın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etkisi bu "küçük" görünen %5'in içinde kaybolmuş olabilir.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Modelin Doğal Yeteneği: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Rastgele Orman zaten kendi içinde en iyi özellikleri seçme becerisine sahiptir.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PCA'nın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yaptığı matematiksel gruplama, RF için yeni bir bilgi sunmak yerine onun işini zorlaştırdı.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Doğrusallık Çelişkisi: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PCA veriyi doğrusal (lineer) bir forma sokmaya çalışır. Oysa uzay verilerimiz karmaşık ve eğri yapılara sahiptir; PCA bu yapıları "düzleştirince" Rastgele Orman'ın esnekliği kısıtlanmış oldu.</a:t>
            </a:r>
          </a:p>
          <a:p>
            <a:endParaRPr lang="tr-TR" sz="105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050" b="1" dirty="0">
                <a:solidFill>
                  <a:schemeClr val="bg2">
                    <a:lumMod val="90000"/>
                  </a:schemeClr>
                </a:solidFill>
              </a:rPr>
              <a:t>Lojistik Regresyon Notu: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Zaten doğrusal bir mantıkla çalıştığı için </a:t>
            </a:r>
            <a:r>
              <a:rPr lang="tr-TR" sz="1050" dirty="0" err="1">
                <a:solidFill>
                  <a:schemeClr val="bg2">
                    <a:lumMod val="90000"/>
                  </a:schemeClr>
                </a:solidFill>
              </a:rPr>
              <a:t>PCA'nın</a:t>
            </a:r>
            <a:r>
              <a:rPr lang="tr-TR" sz="1050" dirty="0">
                <a:solidFill>
                  <a:schemeClr val="bg2">
                    <a:lumMod val="90000"/>
                  </a:schemeClr>
                </a:solidFill>
              </a:rPr>
              <a:t> yaptığı bu sadeleştirmeden en az o etkilendi.</a:t>
            </a:r>
          </a:p>
        </p:txBody>
      </p:sp>
      <p:pic>
        <p:nvPicPr>
          <p:cNvPr id="17" name="Resim 16">
            <a:extLst>
              <a:ext uri="{FF2B5EF4-FFF2-40B4-BE49-F238E27FC236}">
                <a16:creationId xmlns:a16="http://schemas.microsoft.com/office/drawing/2014/main" id="{8B709A20-D809-5BB0-B721-8D75C15EB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625597"/>
            <a:ext cx="4648906" cy="14328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42438"/>
          </a:solidFill>
          <a:ln w="12700">
            <a:solidFill>
              <a:srgbClr val="14243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365760" y="1828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Literatür Taraması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Gamma Telescope Veri Seti Üzerine 10+ Çalışmanın Özeti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64008" cy="71323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429768" y="11704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Ohtani &amp; MAGIC Collab. (2021)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88920" y="11704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Orman → %87+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" y="1481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gözlem verisi, RF standart prosedür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115568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Shape 10"/>
          <p:cNvSpPr/>
          <p:nvPr/>
        </p:nvSpPr>
        <p:spPr>
          <a:xfrm>
            <a:off x="4709160" y="1115568"/>
            <a:ext cx="64008" cy="71323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4864608" y="11704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Karthick vd. (2024)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0" y="11704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(3 katman) → %88.71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64608" y="1481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 öğrenme, ReLU, CART'ı (%79.44) geçti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1920240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Shape 15"/>
          <p:cNvSpPr/>
          <p:nvPr/>
        </p:nvSpPr>
        <p:spPr>
          <a:xfrm>
            <a:off x="274320" y="19202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Text 16"/>
          <p:cNvSpPr/>
          <p:nvPr/>
        </p:nvSpPr>
        <p:spPr>
          <a:xfrm>
            <a:off x="429768" y="19751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Mattar &amp; Towfek (2026)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88920" y="197510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EALSTM+ABGGO → %97.18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29768" y="2286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Meta-sezgisel opt., F1: 0.9705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0" y="1920240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4709160" y="19202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4864608" y="19751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Bhandari &amp; Adhikari (2024)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23760" y="197510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Ağacı → %82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64608" y="2286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Derinlik 9 optimal, derinlik 17 overfitting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2724912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274320" y="27249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429768" y="27797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Anitha vd. (2024)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88920" y="27797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AdaBoost → %87.29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9768" y="30906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Topluluk modelleri karşılaştırıldı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724912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4709160" y="27249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4864608" y="27797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Lustosa &amp; Menzies (2025)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23760" y="27797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Çeşitli → DRR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64608" y="30906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 algoritmalar 100x daha hızlı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529584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Shape 35"/>
          <p:cNvSpPr/>
          <p:nvPr/>
        </p:nvSpPr>
        <p:spPr>
          <a:xfrm>
            <a:off x="274320" y="35295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Text 36"/>
          <p:cNvSpPr/>
          <p:nvPr/>
        </p:nvSpPr>
        <p:spPr>
          <a:xfrm>
            <a:off x="429768" y="358444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Miener vd. (2022)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88920" y="35844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CTLearn TRN → ≈RF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29768" y="38953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kamera görüntüleri → parametrik kadar iyi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09160" y="3529584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40"/>
          <p:cNvSpPr/>
          <p:nvPr/>
        </p:nvSpPr>
        <p:spPr>
          <a:xfrm>
            <a:off x="4709160" y="35295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4864608" y="358444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vd. (2022)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223760" y="35844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QSVC/VQC → %64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64608" y="38953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Kuantum sınıflandırıcılar; XGBoost %88.4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74320" y="4334256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Shape 45"/>
          <p:cNvSpPr/>
          <p:nvPr/>
        </p:nvSpPr>
        <p:spPr>
          <a:xfrm>
            <a:off x="274320" y="4334256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8" name="Text 46"/>
          <p:cNvSpPr/>
          <p:nvPr/>
        </p:nvSpPr>
        <p:spPr>
          <a:xfrm>
            <a:off x="429768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Diler &amp; Demir (2024)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788920" y="43891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 analizi → —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29768" y="4700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doğrusal bağlantı NB'yi olumsuz etkiliyor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09160" y="4334256"/>
            <a:ext cx="4206240" cy="713232"/>
          </a:xfrm>
          <a:prstGeom prst="rect">
            <a:avLst/>
          </a:prstGeom>
          <a:solidFill>
            <a:srgbClr val="162032"/>
          </a:solidFill>
          <a:ln w="12700">
            <a:solidFill>
              <a:srgbClr val="1E355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2" name="Shape 50"/>
          <p:cNvSpPr/>
          <p:nvPr/>
        </p:nvSpPr>
        <p:spPr>
          <a:xfrm>
            <a:off x="4709160" y="4334256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Text 51"/>
          <p:cNvSpPr/>
          <p:nvPr/>
        </p:nvSpPr>
        <p:spPr>
          <a:xfrm>
            <a:off x="4864608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Acevedo (2023)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223760" y="43891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vs NB → %86/%71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864608" y="4700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F1:0.85, NB F1:0.65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412480" y="491947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</a:t>
            </a:r>
            <a:r>
              <a:rPr lang="tr-TR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19202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1645920"/>
            <a:ext cx="109728" cy="19202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401216" y="128930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5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r>
              <a:rPr lang="tr-TR" sz="2800" b="1" kern="0" spc="5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 ve Tartışma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 •  SMOTE  •  k-NN  •  Klasik Modeller  •  Optimize RF  •  SHAP  •  YSA  •  Gözetimsiz  •  PCA  •  Genel Özet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Klasik Model Karşılaştırması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Algoritmanın 5-Fold CV ve Test Seti Sonuçları · SMOTE Pipeline olmaksızın saf performans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8229600" cy="2926077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Doğ.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Std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Doğ.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Hassasiyet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Duyarlılık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F1-Skoru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Rastgele Orman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 (Entropi)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 (Gini)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Lojistik Reg.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4114800"/>
            <a:ext cx="8686800" cy="100584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Shape 5"/>
          <p:cNvSpPr/>
          <p:nvPr/>
        </p:nvSpPr>
        <p:spPr>
          <a:xfrm>
            <a:off x="228600" y="4114800"/>
            <a:ext cx="45720" cy="10058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/>
          <p:nvPr/>
        </p:nvSpPr>
        <p:spPr>
          <a:xfrm>
            <a:off x="338328" y="4178808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Çıkarımlar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" y="4462272"/>
            <a:ext cx="8522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Orman hem CV hem test skoru açısından diğer algoritmalardan belirgin biçimde öne çıkmaktadır. Düşük std. sapması (0.0064) da kararlı bir performans sergilediğini göstermektedir.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en düşük sonucu vermiştir. EDA'da tespit ettiğimiz fConc–fConc1 korelasyonu (0,98) bağımsızlık varsayımını ihlal etmekte; bu sonuç tam beklentiyle örtüşmektedir.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42438"/>
          </a:solidFill>
          <a:ln w="12700">
            <a:solidFill>
              <a:srgbClr val="14243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365760" y="1828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 Optimize Rastgele Orman Sonuçları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Karmaşıklık</a:t>
            </a:r>
            <a:r>
              <a:rPr lang="en-US" sz="110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Matrisi, ROC Eğrisi, Özellik Önemi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3200400" cy="4041648"/>
          </a:xfrm>
          <a:prstGeom prst="rect">
            <a:avLst/>
          </a:prstGeom>
          <a:solidFill>
            <a:srgbClr val="0D1B2A"/>
          </a:solidFill>
          <a:ln w="12700">
            <a:solidFill>
              <a:srgbClr val="FFB703"/>
            </a:solidFill>
            <a:prstDash val="solid"/>
          </a:ln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20" name="Text 18"/>
          <p:cNvSpPr/>
          <p:nvPr/>
        </p:nvSpPr>
        <p:spPr>
          <a:xfrm>
            <a:off x="2100470" y="7915121"/>
            <a:ext cx="1165450" cy="324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4048" y="39959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78606" y="1097280"/>
            <a:ext cx="2685034" cy="404164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tr-TR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767328" y="1161288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Eğrisi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097280"/>
            <a:ext cx="2880360" cy="4041648"/>
          </a:xfrm>
          <a:prstGeom prst="rect">
            <a:avLst/>
          </a:prstGeom>
          <a:solidFill>
            <a:srgbClr val="0D1B2A"/>
          </a:solidFill>
          <a:ln w="12700">
            <a:solidFill>
              <a:srgbClr val="06D6A0"/>
            </a:solidFill>
            <a:prstDash val="solid"/>
          </a:ln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tr-TR" sz="1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400800" y="116128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 Önemi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8412480" y="491947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</a:t>
            </a:r>
            <a:r>
              <a:rPr lang="tr-TR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33" name="Resim 32">
            <a:extLst>
              <a:ext uri="{FF2B5EF4-FFF2-40B4-BE49-F238E27FC236}">
                <a16:creationId xmlns:a16="http://schemas.microsoft.com/office/drawing/2014/main" id="{7E582B0F-D0C0-7E83-74E2-8792A00D29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98" y="1441514"/>
            <a:ext cx="2721186" cy="227456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 23">
            <a:extLst>
              <a:ext uri="{FF2B5EF4-FFF2-40B4-BE49-F238E27FC236}">
                <a16:creationId xmlns:a16="http://schemas.microsoft.com/office/drawing/2014/main" id="{6EDC56BD-63B4-9592-899F-ACD77CE3926D}"/>
              </a:ext>
            </a:extLst>
          </p:cNvPr>
          <p:cNvSpPr/>
          <p:nvPr/>
        </p:nvSpPr>
        <p:spPr>
          <a:xfrm>
            <a:off x="726948" y="1099593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Karmaşıklık Matrisi</a:t>
            </a:r>
            <a:endParaRPr lang="en-US" sz="1100" dirty="0"/>
          </a:p>
        </p:txBody>
      </p:sp>
      <p:pic>
        <p:nvPicPr>
          <p:cNvPr id="35" name="Resim 34">
            <a:extLst>
              <a:ext uri="{FF2B5EF4-FFF2-40B4-BE49-F238E27FC236}">
                <a16:creationId xmlns:a16="http://schemas.microsoft.com/office/drawing/2014/main" id="{EA43CAE3-F367-352D-DC26-2CEF712F75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1774" y="1508760"/>
            <a:ext cx="2398698" cy="209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Resim 35">
            <a:extLst>
              <a:ext uri="{FF2B5EF4-FFF2-40B4-BE49-F238E27FC236}">
                <a16:creationId xmlns:a16="http://schemas.microsoft.com/office/drawing/2014/main" id="{BA8F1328-7652-822B-54E7-EE3320382A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0335" y="1531938"/>
            <a:ext cx="2581790" cy="217138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AA8BF963-A06A-A4DC-ECED-DD0EFE6E5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467" y="3779365"/>
            <a:ext cx="2988327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Genel Doğruluk: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3.804 test gözleminde %87,77 net başarı elde edildi (3.339 doğru tahmin).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Kritik Başarı (FN=220):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Bizim için en riskli hata olan "Yanlış Negatif" minimum seviyede tutuldu.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9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9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Astrofiziksel</a:t>
            </a:r>
            <a:r>
              <a:rPr kumimoji="0" lang="tr-TR" altLang="tr-TR" sz="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Kazanım:</a:t>
            </a:r>
            <a:r>
              <a:rPr kumimoji="0" lang="tr-TR" altLang="tr-TR" sz="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Gerçek Gama patlamaları kaçırılmıyor, paha biçilemez teleskop gözlem zamanı israf edilmiyor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4DC30D6-8AD6-C476-B277-AD9B4BB42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2941" y="3765890"/>
            <a:ext cx="2685034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Ayırt Etme Gücü (AUC: 0.9382):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Modelin Gama sinyallerini </a:t>
            </a:r>
            <a:r>
              <a:rPr kumimoji="0" lang="tr-TR" altLang="tr-TR" sz="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Hadron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gürültüsünden izole etme kapasitesi mükemmele yakın.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Model İstikrarı: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Şans faktörü (0.5 referans çizgisi) tamamen elenmiş, kararlı ve güçlü bir sınır çizilmiştir.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Saha Güvenilirliği: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Bu yüksek AUC skoru, sistemin gerçek teleskop operasyonlarında güvenle kullanılabileceğini kanıtlar. 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2BCB6E2-2D5E-BCC3-D396-CB1CA8159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4381" y="3794754"/>
            <a:ext cx="2704598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Lider Değişken: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tr-TR" altLang="tr-TR" sz="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fAlpha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(~0.27 ağırlıkla karar mekanizmasını açık ara domine ediyor).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Fiziksel Doğrulama: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Geometrik boyutlardan ziyade, "kaynak yönüyle yapılan açı" ayrımda en belirleyici faktördür.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tr-TR" altLang="tr-TR" sz="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Şeffaf Yapay Zeka: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Model veriyi ezberlememiş; astrofiziğin "Gama ışınları düşük açıyla gelir" kuralını kendi kendine öğrenmiştir.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"/>
            <a:ext cx="9144000" cy="5318449"/>
          </a:xfrm>
          <a:prstGeom prst="rect">
            <a:avLst/>
          </a:prstGeom>
          <a:solidFill>
            <a:srgbClr val="142438"/>
          </a:solidFill>
          <a:ln w="12700">
            <a:solidFill>
              <a:srgbClr val="142438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365760" y="1828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3.10  Genel Model Karşılaştırması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</a:t>
            </a:r>
            <a:r>
              <a:rPr lang="en-US" sz="110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Modeller  |  </a:t>
            </a:r>
            <a:r>
              <a:rPr lang="en-US" sz="1100" dirty="0" err="1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</a:t>
            </a:r>
            <a:r>
              <a:rPr lang="en-US" sz="110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ile Karşılaştırma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</a:t>
            </a: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Modellerin Nihai Performans Özeti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0" y="107899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Literatür ile Kapsamlı Karşılaştırma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Text 6"/>
          <p:cNvSpPr/>
          <p:nvPr/>
        </p:nvSpPr>
        <p:spPr>
          <a:xfrm>
            <a:off x="8412480" y="491947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</a:t>
            </a:r>
            <a:r>
              <a:rPr lang="tr-TR" sz="800" dirty="0">
                <a:solidFill>
                  <a:srgbClr val="6B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13" name="Resim 12">
            <a:extLst>
              <a:ext uri="{FF2B5EF4-FFF2-40B4-BE49-F238E27FC236}">
                <a16:creationId xmlns:a16="http://schemas.microsoft.com/office/drawing/2014/main" id="{7C5E7CA0-3B12-A1CC-1FFF-D1F6418F0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87" y="1391055"/>
            <a:ext cx="3882380" cy="3158086"/>
          </a:xfrm>
          <a:prstGeom prst="rect">
            <a:avLst/>
          </a:prstGeom>
        </p:spPr>
      </p:pic>
      <p:pic>
        <p:nvPicPr>
          <p:cNvPr id="17" name="Resim 16">
            <a:extLst>
              <a:ext uri="{FF2B5EF4-FFF2-40B4-BE49-F238E27FC236}">
                <a16:creationId xmlns:a16="http://schemas.microsoft.com/office/drawing/2014/main" id="{032FFD02-FFEE-AC39-C1F3-59C0A71DF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29" y="1307592"/>
            <a:ext cx="3882379" cy="370124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SONUÇ — Temel Bulgular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boyunca elde edilen anahtar çıktılar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789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78992"/>
            <a:ext cx="45720" cy="12618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430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En İyi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4264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Rastgele Orman %88,59 test doğruluğu ve 0,9382 ROC-AUC ile lider oldu. SMOTE Pipeline ve hiperparametre optimizasyonu bu başarıda belirleyici rol oynadı.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0789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4800600" y="1078992"/>
            <a:ext cx="45720" cy="12618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910328" y="11430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SMOTE Pipeline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10328" y="14264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sızıntısını kesin olarak önledi ve Hadron recall'ını üç farklı modelde ölçülebilir biçimde iyileştirdi. Metodolojik olarak en kritik katkımızdır.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4505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28600" y="2450592"/>
            <a:ext cx="45720" cy="126187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38328" y="25146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Yapay Sinir Ağı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" y="27980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epoch'ta Early Stopping ile durduruldu, AUC 0,9231. Dropout ve Early Stopping overfitting'i başarıyla engelledi. RF'nin biraz altında ama güçlü bir sonuç.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0600" y="24505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4800600" y="2450592"/>
            <a:ext cx="45720" cy="12618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4910328" y="25146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PCA Boyut İndirgeme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10328" y="27980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 → 7D dönüşümünde bilginin %95'i korundu. Marjinal performans kaybı, bazı değişkenlerin bilgiyi tekrar ettiğini doğruladı.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8221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28600" y="3822192"/>
            <a:ext cx="45720" cy="12618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38328" y="38862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Gözetimsiz Öğrenme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" y="41696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ARI: 0,0076 ≈ 0. Bu veri seti için gözetimli öğrenmenin zorunlu olduğu deneysel olarak kanıtlandı.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0600" y="3822192"/>
            <a:ext cx="4297680" cy="126187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4800600" y="3822192"/>
            <a:ext cx="45720" cy="126187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4910328" y="3886200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SHAP Açıklanabilirlik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10328" y="4169664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fAlpha ~0,27 ile birinci sırada. Düşük fAlpha → Gama — bu sonuç fiziksel beklentiyle tam örtüşmektedir.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SONUÇ — Gelecek Çalışmalar İçin Öneriler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Literatürü daha da ileriye taşıyabilecek araştırma potansiyelleri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228600" y="1078992"/>
            <a:ext cx="8686800" cy="7132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28600" y="1078992"/>
            <a:ext cx="45720" cy="7132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38328" y="114300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1: Alternatif Sentetik Örnekleme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426464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çalışmada klasik SMOTE kullanıldı. ADASYN veya karar sınırlarına odaklanan BorderlineSMOTE gibi alternatiflerin karşılaştırmalı testi, azınlık sınıfı tespitinde ek kazanımlar sağlayabilir.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883664"/>
            <a:ext cx="8686800" cy="7132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228600" y="1883664"/>
            <a:ext cx="45720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38328" y="1947672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2: Gerçek Teleskop Verisi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" y="2231136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veri seti Monte Carlo simülasyonu. Aynı metodoloji ve Pipeline'ın gerçek MAGIC gözlem verileri üzerinde tekrarlanması modelin saha koşullarındaki güvenilirliğini netleştirecektir.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688336"/>
            <a:ext cx="8686800" cy="7132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28600" y="2688336"/>
            <a:ext cx="45720" cy="71323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38328" y="2752344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3: XGBoost &amp; LightGBM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" y="3035808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Gradyan artırma tabanlı algoritmalar kapsam dışında tutuldu. XGBoost aynı veri setinde %88,4 bildiriyor. SMOTE Pipeline'a entegre edilerek mevcut liderle yarıştırılması değerlidir.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3493008"/>
            <a:ext cx="8686800" cy="7132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228600" y="3493008"/>
            <a:ext cx="45720" cy="71323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338328" y="3557016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4: LIME ile SHAP Karşılaştırması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" y="38404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Açıklanabilirlik bu çalışmada SHAP ile sağlandı. LIME gibi farklı yerel XAI yöntemlerinin aynı model üzerinde kıyaslanması daha zengin bir perspektif sunacaktır.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4297680"/>
            <a:ext cx="8686800" cy="713232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28600" y="4297680"/>
            <a:ext cx="457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38328" y="4361688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5: CTLearn — Ham Görüntü Tabanlı DL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" y="4645152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CTLearn gibi altyapıların ham kamera görüntülerini işlemesiyle, Hillas parametrelerine dayanan yaklaşımın kıyaslanması hangi yöntemin daha fazla bilimsel bilgi sağladığını netleştirebilir.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324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r>
              <a:rPr lang="tr-TR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panış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C74C18C-A522-2375-1D89-86048042E2D7}"/>
              </a:ext>
            </a:extLst>
          </p:cNvPr>
          <p:cNvSpPr txBox="1"/>
          <p:nvPr/>
        </p:nvSpPr>
        <p:spPr>
          <a:xfrm>
            <a:off x="228600" y="1150570"/>
            <a:ext cx="80555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                                                MAGIC Gamma </a:t>
            </a:r>
            <a:r>
              <a:rPr lang="tr-TR" sz="1200" b="1" dirty="0" err="1">
                <a:solidFill>
                  <a:schemeClr val="bg2">
                    <a:lumMod val="90000"/>
                  </a:schemeClr>
                </a:solidFill>
              </a:rPr>
              <a:t>Telescope</a:t>
            </a:r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: Makine Öğrenmesi ile Sınıflandırma Analizi</a:t>
            </a:r>
          </a:p>
          <a:p>
            <a:endParaRPr lang="tr-TR" sz="1200" b="1" dirty="0">
              <a:solidFill>
                <a:schemeClr val="bg2">
                  <a:lumMod val="90000"/>
                </a:schemeClr>
              </a:solidFill>
            </a:endParaRPr>
          </a:p>
          <a:p>
            <a:endParaRPr lang="tr-TR" sz="1200" b="1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TEŞEKKÜRLER</a:t>
            </a:r>
          </a:p>
          <a:p>
            <a:endParaRPr lang="tr-TR" sz="120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Hazırlayanlar</a:t>
            </a:r>
          </a:p>
          <a:p>
            <a:endParaRPr lang="tr-TR" sz="1200" b="1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24181616037-SUDE AKSU</a:t>
            </a: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241816161038-ELİF KINALI</a:t>
            </a:r>
          </a:p>
          <a:p>
            <a:endParaRPr lang="tr-TR" sz="1200" b="1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200" dirty="0">
                <a:solidFill>
                  <a:schemeClr val="bg2">
                    <a:lumMod val="90000"/>
                  </a:schemeClr>
                </a:solidFill>
              </a:rPr>
              <a:t>Gazi Üniversitesi Teknoloji Fakültesi  Bilgisayar Mühendisliği </a:t>
            </a:r>
          </a:p>
          <a:p>
            <a:endParaRPr lang="tr-TR" sz="120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Dijital Portfolyo &amp; Kaynak Kodlar</a:t>
            </a:r>
          </a:p>
          <a:p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COLAB: https://colab.research.google.com/drive/1HpVjBDCu_91ZlriskFHyzBB5s9V6a8gD</a:t>
            </a:r>
          </a:p>
          <a:p>
            <a:r>
              <a:rPr lang="tr-TR" sz="1200" b="1" dirty="0" err="1">
                <a:solidFill>
                  <a:schemeClr val="bg2">
                    <a:lumMod val="90000"/>
                  </a:schemeClr>
                </a:solidFill>
              </a:rPr>
              <a:t>GitHub</a:t>
            </a:r>
            <a:r>
              <a:rPr lang="tr-TR" sz="1200" b="1" dirty="0">
                <a:solidFill>
                  <a:schemeClr val="bg2">
                    <a:lumMod val="90000"/>
                  </a:schemeClr>
                </a:solidFill>
              </a:rPr>
              <a:t>: https://github.com/sudeaksu/MAGIC-Gamma-Telescope-Classification</a:t>
            </a:r>
            <a:endParaRPr lang="tr-TR" sz="12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5041</Words>
  <Application>Microsoft Office PowerPoint</Application>
  <PresentationFormat>Ekran Gösterisi (16:9)</PresentationFormat>
  <Paragraphs>721</Paragraphs>
  <Slides>30</Slides>
  <Notes>30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30</vt:i4>
      </vt:variant>
    </vt:vector>
  </HeadingPairs>
  <TitlesOfParts>
    <vt:vector size="35" baseType="lpstr">
      <vt:lpstr>Arial</vt:lpstr>
      <vt:lpstr>Arial Unicode MS</vt:lpstr>
      <vt:lpstr>Calibri</vt:lpstr>
      <vt:lpstr>Google Sans Text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Gamma Telescope — Gama-Hadron Sınıflandırması</dc:title>
  <dc:subject>PptxGenJS Presentation</dc:subject>
  <dc:creator>PptxGenJS</dc:creator>
  <cp:lastModifiedBy>sude aksu</cp:lastModifiedBy>
  <cp:revision>3</cp:revision>
  <dcterms:created xsi:type="dcterms:W3CDTF">2026-05-04T07:44:56Z</dcterms:created>
  <dcterms:modified xsi:type="dcterms:W3CDTF">2026-05-04T09:50:58Z</dcterms:modified>
</cp:coreProperties>
</file>